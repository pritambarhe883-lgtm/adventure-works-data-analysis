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81" r:id="rId19"/>
    <p:sldId id="282" r:id="rId20"/>
    <p:sldId id="283" r:id="rId21"/>
    <p:sldId id="284" r:id="rId22"/>
    <p:sldId id="285" r:id="rId23"/>
    <p:sldId id="286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3E"/>
                </a:solidFill>
                <a:latin typeface="Arial"/>
              </a:rPr>
              <a:t>Annual Revenue (USD Millions)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B26-45F4-A06C-81E831EDC91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B26-45F4-A06C-81E831EDC913}"/>
              </c:ext>
            </c:extLst>
          </c:dPt>
          <c:dPt>
            <c:idx val="2"/>
            <c:invertIfNegative val="0"/>
            <c:bubble3D val="0"/>
            <c:spPr>
              <a:solidFill>
                <a:srgbClr val="F4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B26-45F4-A06C-81E831EDC91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7.1</c:v>
                </c:pt>
                <c:pt idx="1">
                  <c:v>5.8</c:v>
                </c:pt>
                <c:pt idx="2">
                  <c:v>16.399999999999999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B26-45F4-A06C-81E831EDC9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3E"/>
                </a:solidFill>
                <a:latin typeface="Arial"/>
              </a:rPr>
              <a:t>2013 Monthly Revenue Trend ($M)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2013</c:v>
                </c:pt>
              </c:strCache>
            </c:strRef>
          </c:tx>
          <c:spPr>
            <a:ln w="31750" cap="flat">
              <a:solidFill>
                <a:srgbClr val="0E7C7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7C7B"/>
              </a:solidFill>
              <a:ln w="9525" cap="flat">
                <a:solidFill>
                  <a:srgbClr val="0E7C7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0.86</c:v>
                </c:pt>
                <c:pt idx="1">
                  <c:v>0.77</c:v>
                </c:pt>
                <c:pt idx="2">
                  <c:v>1.05</c:v>
                </c:pt>
                <c:pt idx="3">
                  <c:v>1.05</c:v>
                </c:pt>
                <c:pt idx="4">
                  <c:v>1.28</c:v>
                </c:pt>
                <c:pt idx="5">
                  <c:v>1.64</c:v>
                </c:pt>
                <c:pt idx="6">
                  <c:v>1.37</c:v>
                </c:pt>
                <c:pt idx="7">
                  <c:v>1.55</c:v>
                </c:pt>
                <c:pt idx="8">
                  <c:v>1.45</c:v>
                </c:pt>
                <c:pt idx="9">
                  <c:v>1.67</c:v>
                </c:pt>
                <c:pt idx="10">
                  <c:v>1.78</c:v>
                </c:pt>
                <c:pt idx="11">
                  <c:v>1.87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631-49A7-BAB2-47E6160CBC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fr-FR" sz="1200" b="0" i="0" u="none" strike="noStrike">
                <a:solidFill>
                  <a:srgbClr val="0D1B3E"/>
                </a:solidFill>
                <a:latin typeface="Arial"/>
              </a:rPr>
              <a:t>Revenue vs COGS vs Profit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7.1</c:v>
                </c:pt>
                <c:pt idx="1">
                  <c:v>5.8</c:v>
                </c:pt>
                <c:pt idx="2">
                  <c:v>16.399999999999999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47-418A-893A-ACE33E06E1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COGS</c:v>
                </c:pt>
              </c:strCache>
            </c:strRef>
          </c:tx>
          <c:spPr>
            <a:solidFill>
              <a:srgbClr val="F4A623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4.2</c:v>
                </c:pt>
                <c:pt idx="1">
                  <c:v>3.4</c:v>
                </c:pt>
                <c:pt idx="2">
                  <c:v>9.6999999999999993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47-418A-893A-ACE33E06E13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2.9</c:v>
                </c:pt>
                <c:pt idx="1">
                  <c:v>2.4</c:v>
                </c:pt>
                <c:pt idx="2">
                  <c:v>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047-418A-893A-ACE33E06E1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3E"/>
                </a:solidFill>
                <a:latin typeface="Arial"/>
              </a:rPr>
              <a:t>Revenue by Category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C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A25-4C14-98DA-84C68206E0A3}"/>
              </c:ext>
            </c:extLst>
          </c:dPt>
          <c:dPt>
            <c:idx val="1"/>
            <c:bubble3D val="0"/>
            <c:spPr>
              <a:solidFill>
                <a:srgbClr val="F4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A25-4C14-98DA-84C68206E0A3}"/>
              </c:ext>
            </c:extLst>
          </c:dPt>
          <c:dPt>
            <c:idx val="2"/>
            <c:bubble3D val="0"/>
            <c:spPr>
              <a:solidFill>
                <a:srgbClr val="0D1B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A25-4C14-98DA-84C68206E0A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A25-4C14-98DA-84C68206E0A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A25-4C14-98DA-84C68206E0A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A25-4C14-98DA-84C68206E0A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Bikes</c:v>
                </c:pt>
                <c:pt idx="1">
                  <c:v>Accessories</c:v>
                </c:pt>
                <c:pt idx="2">
                  <c:v>Clothing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28318140</c:v>
                </c:pt>
                <c:pt idx="1">
                  <c:v>700760</c:v>
                </c:pt>
                <c:pt idx="2">
                  <c:v>339773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A25-4C14-98DA-84C68206E0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3E"/>
                </a:solidFill>
                <a:latin typeface="Arial"/>
              </a:rPr>
              <a:t>Revenue by Sub-Category ($M)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Road Bikes</c:v>
                </c:pt>
                <c:pt idx="1">
                  <c:v>Mountain Bikes</c:v>
                </c:pt>
                <c:pt idx="2">
                  <c:v>Touring Bikes</c:v>
                </c:pt>
                <c:pt idx="3">
                  <c:v>Tires &amp; Tubes</c:v>
                </c:pt>
                <c:pt idx="4">
                  <c:v>Helmets</c:v>
                </c:pt>
                <c:pt idx="5">
                  <c:v>Jerseys</c:v>
                </c:pt>
                <c:pt idx="6">
                  <c:v>Shorts</c:v>
                </c:pt>
                <c:pt idx="7">
                  <c:v>Bottles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14.52</c:v>
                </c:pt>
                <c:pt idx="1">
                  <c:v>9.9499999999999993</c:v>
                </c:pt>
                <c:pt idx="2">
                  <c:v>3.84</c:v>
                </c:pt>
                <c:pt idx="3">
                  <c:v>0.25</c:v>
                </c:pt>
                <c:pt idx="4">
                  <c:v>0.23</c:v>
                </c:pt>
                <c:pt idx="5">
                  <c:v>0.17</c:v>
                </c:pt>
                <c:pt idx="6">
                  <c:v>7.0000000000000007E-2</c:v>
                </c:pt>
                <c:pt idx="7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11-44D8-BB4A-B16A0F86AE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3E"/>
                </a:solidFill>
                <a:latin typeface="Arial"/>
              </a:rPr>
              <a:t>Revenue by Country ($M)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8B9-4FAD-9E49-7337604ADA63}"/>
              </c:ext>
            </c:extLst>
          </c:dPt>
          <c:dPt>
            <c:idx val="1"/>
            <c:invertIfNegative val="0"/>
            <c:bubble3D val="0"/>
            <c:spPr>
              <a:solidFill>
                <a:srgbClr val="14A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8B9-4FAD-9E49-7337604ADA63}"/>
              </c:ext>
            </c:extLst>
          </c:dPt>
          <c:dPt>
            <c:idx val="2"/>
            <c:invertIfNegative val="0"/>
            <c:bubble3D val="0"/>
            <c:spPr>
              <a:solidFill>
                <a:srgbClr val="F4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8B9-4FAD-9E49-7337604ADA63}"/>
              </c:ext>
            </c:extLst>
          </c:dPt>
          <c:dPt>
            <c:idx val="3"/>
            <c:invertIfNegative val="0"/>
            <c:bubble3D val="0"/>
            <c:spPr>
              <a:solidFill>
                <a:srgbClr val="F4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8B9-4FAD-9E49-7337604ADA63}"/>
              </c:ext>
            </c:extLst>
          </c:dPt>
          <c:dPt>
            <c:idx val="4"/>
            <c:invertIfNegative val="0"/>
            <c:bubble3D val="0"/>
            <c:spPr>
              <a:solidFill>
                <a:srgbClr val="F4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8B9-4FAD-9E49-7337604ADA63}"/>
              </c:ext>
            </c:extLst>
          </c:dPt>
          <c:dPt>
            <c:idx val="5"/>
            <c:invertIfNegative val="0"/>
            <c:bubble3D val="0"/>
            <c:spPr>
              <a:solidFill>
                <a:srgbClr val="14A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8B9-4FAD-9E49-7337604ADA6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United States</c:v>
                </c:pt>
                <c:pt idx="1">
                  <c:v>Australia</c:v>
                </c:pt>
                <c:pt idx="2">
                  <c:v>United Kingdom</c:v>
                </c:pt>
                <c:pt idx="3">
                  <c:v>Germany</c:v>
                </c:pt>
                <c:pt idx="4">
                  <c:v>France</c:v>
                </c:pt>
                <c:pt idx="5">
                  <c:v>Canada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9.39</c:v>
                </c:pt>
                <c:pt idx="1">
                  <c:v>9.06</c:v>
                </c:pt>
                <c:pt idx="2">
                  <c:v>3.39</c:v>
                </c:pt>
                <c:pt idx="3">
                  <c:v>2.89</c:v>
                </c:pt>
                <c:pt idx="4">
                  <c:v>2.64</c:v>
                </c:pt>
                <c:pt idx="5">
                  <c:v>1.98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8B9-4FAD-9E49-7337604ADA6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2361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CE4BE-719A-440E-A3E2-4527F39C1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B042C-8D43-C6A3-D348-8C92692F61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5A530-F23F-F25D-14E9-AD17BDAA9A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563B1-639B-FCE6-B660-54C11F94AA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600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79154-14A6-B95E-94B2-D4F87EC72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4B634C-8B50-B745-0F47-56F6D1583B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166301-69E7-2DAB-BB87-8733C90D6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095F0-A775-FF5E-06A6-914EE626C9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9049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68ECD-9A54-C805-D867-A73F6F8BF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BE73A3-D7BA-A4A9-E3DA-B996F80725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1D8BB9-CCDF-A187-74FA-AF2BB261E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126C4-FCEA-A865-9803-9B7216DD9D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203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9F1DD-2DB7-40A4-8CD3-E1AFA99A6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EB63CE-F8F9-0CDC-D565-4FE9380AB5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4D7E09-2FE9-7CD8-5C75-3C036CB50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B87FC-815E-B5F8-C228-BB60274F7F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0101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8033C-73CA-B4B0-EF21-585CEB509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4D9E79-7864-E1C5-3F27-AC01DD453C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E81982-55F7-22CC-F24A-B3324B14EA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43B59-40F9-0A5D-5D74-C0B504BA9F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5072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DD293-B2E1-D542-EC2B-92C7AB06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002039-4ECE-57F4-41F2-659D5CE021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5F7D08-79D4-6FCC-742E-577C4E7AC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DA92C-BEC8-6FE8-7A95-68435E6779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8945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0" y="4389120"/>
            <a:ext cx="5943600" cy="75438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 rot="16200000">
            <a:off x="228600" y="109728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 ·  INSIGHTS  ·  STRATEGY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566160" y="5029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Works-Project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566160" y="1115568"/>
            <a:ext cx="5303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Performance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566160" y="25146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4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 ·  Tableau  ·  Power BI ·  SQL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66160" y="314096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46177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April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502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20116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64008" cy="10515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9235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$29.4M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910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2011–2013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841248"/>
            <a:ext cx="20116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23160" y="841248"/>
            <a:ext cx="64008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0" y="9235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$12.1M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560320" y="1389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15910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41.1% Margin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841248"/>
            <a:ext cx="20116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0" y="841248"/>
            <a:ext cx="64008" cy="105156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9235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27,659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709160" y="1389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15910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Order Nos.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20840" y="841248"/>
            <a:ext cx="20116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20840" y="841248"/>
            <a:ext cx="64008" cy="1051560"/>
          </a:xfrm>
          <a:prstGeom prst="rect">
            <a:avLst/>
          </a:prstGeom>
          <a:solidFill>
            <a:srgbClr val="14A8A6"/>
          </a:solidFill>
          <a:ln w="12700">
            <a:solidFill>
              <a:srgbClr val="14A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0" y="9235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60,398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58000" y="1389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15910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Countries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057400"/>
            <a:ext cx="416052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2148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2487168"/>
            <a:ext cx="3749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analytics project on AdventureWorks DW — 60K+ transactions, 6 countries, 3 categories, 4 fiscal years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data model built across 7 source tables with full referential integrity validation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dashboards (Excel, Tableau, Power BI) built and compared on 9 business dimensions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Strategic insights, management recommendations, and a BI tool deployment framework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2057400"/>
            <a:ext cx="416052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2148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2487168"/>
            <a:ext cx="3749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 contribute 96.4% of total revenue — highest concentration risk in the portfolio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+ Australia = 63% of global revenue; Europe is the highest-potential underdeveloped region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revenue of $16.4M represents +131% YoY growth from 2012 ($5.8M)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of 41.1% is healthy but Accessories &amp; Clothing remain structurally underpriced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&amp; Objective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502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86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612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AdventureWorks lacks a unified, decision-ready view of sales performance, profitability drivers, regional contribution, and product-level trends — limiting strategic agility.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27889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2788920" cy="731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95681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Diagnose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2514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revenue concentration risks, underperforming regions, and margin gaps across products and categories.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27832" y="1828800"/>
            <a:ext cx="27889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27832" y="1828800"/>
            <a:ext cx="2788920" cy="731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64992" y="195681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Visualise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64992" y="2331720"/>
            <a:ext cx="2514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raw transactional data into executive-ready dashboards that surface actionable insight instantly.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81344" y="1828800"/>
            <a:ext cx="27889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81344" y="1828800"/>
            <a:ext cx="2788920" cy="731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18504" y="195681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Recommend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18504" y="2331720"/>
            <a:ext cx="2514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management with data-backed guidance on product strategy, regional expansion, and BI tooling investment.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4439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Approach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6817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audit → Relational modelling → KPI design → Dashboard development → Cross-tool evaluation → Strategic recommendation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Data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502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Tables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374904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624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(Fact)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14600" y="13624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60,398 rows · 25 columns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773936"/>
            <a:ext cx="37490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8379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DimProduct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18379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606 products · 36 attributes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249424"/>
            <a:ext cx="374904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313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DimProductCategory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23134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categories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724912"/>
            <a:ext cx="37490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788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DimProductSubCategory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4600" y="27889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sub-categories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200400"/>
            <a:ext cx="374904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264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DimCustomer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14600" y="32644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18,484 customers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675888"/>
            <a:ext cx="37490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7398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DimSalesTerritory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14600" y="37398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territories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4151376"/>
            <a:ext cx="374904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42153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DimDate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14600" y="42153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/ fiscal keys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26280" y="841248"/>
            <a:ext cx="4297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09160" y="9326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– Relationship Map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011680"/>
            <a:ext cx="178308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897880" y="20116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FACT: Sales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1188720"/>
            <a:ext cx="1508760" cy="502920"/>
          </a:xfrm>
          <a:prstGeom prst="rect">
            <a:avLst/>
          </a:prstGeom>
          <a:solidFill>
            <a:srgbClr val="14A8A6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63440" y="11887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DimTerritory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269480" y="1197864"/>
            <a:ext cx="1508760" cy="502920"/>
          </a:xfrm>
          <a:prstGeom prst="rect">
            <a:avLst/>
          </a:prstGeom>
          <a:solidFill>
            <a:srgbClr val="14A8A6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269480" y="11887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DimDate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2926080"/>
            <a:ext cx="1508760" cy="502920"/>
          </a:xfrm>
          <a:prstGeom prst="rect">
            <a:avLst/>
          </a:prstGeom>
          <a:solidFill>
            <a:srgbClr val="14A8A6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63440" y="29260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DimCustomer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269480" y="2926080"/>
            <a:ext cx="1508760" cy="502920"/>
          </a:xfrm>
          <a:prstGeom prst="rect">
            <a:avLst/>
          </a:prstGeom>
          <a:solidFill>
            <a:srgbClr val="14A8A6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269480" y="29260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DimProduct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269480" y="3703320"/>
            <a:ext cx="1508760" cy="502920"/>
          </a:xfrm>
          <a:prstGeom prst="rect">
            <a:avLst/>
          </a:prstGeom>
          <a:solidFill>
            <a:srgbClr val="14A8A6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269480" y="3717036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DimSubCategory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26280" y="457200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optimised for aggregation, slicing, and cross-dimensional filtering</a:t>
            </a:r>
            <a:endParaRPr lang="en-US" sz="950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6B3DA1B-CF05-D497-F5A6-76AA5F295101}"/>
              </a:ext>
            </a:extLst>
          </p:cNvPr>
          <p:cNvCxnSpPr>
            <a:cxnSpLocks/>
          </p:cNvCxnSpPr>
          <p:nvPr/>
        </p:nvCxnSpPr>
        <p:spPr>
          <a:xfrm>
            <a:off x="5382491" y="1700784"/>
            <a:ext cx="515389" cy="3383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E68A428-C794-CDC3-4AC0-E827CF380BFF}"/>
              </a:ext>
            </a:extLst>
          </p:cNvPr>
          <p:cNvCxnSpPr>
            <a:cxnSpLocks/>
          </p:cNvCxnSpPr>
          <p:nvPr/>
        </p:nvCxnSpPr>
        <p:spPr>
          <a:xfrm flipH="1">
            <a:off x="7680960" y="1700784"/>
            <a:ext cx="538249" cy="32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DBDF2D6-581E-55D1-9D5C-391EB6C7073B}"/>
              </a:ext>
            </a:extLst>
          </p:cNvPr>
          <p:cNvCxnSpPr/>
          <p:nvPr/>
        </p:nvCxnSpPr>
        <p:spPr>
          <a:xfrm flipV="1">
            <a:off x="5388726" y="2660904"/>
            <a:ext cx="509154" cy="2651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0620112-6B83-56CE-14FE-D961701ECADB}"/>
              </a:ext>
            </a:extLst>
          </p:cNvPr>
          <p:cNvCxnSpPr>
            <a:endCxn id="37" idx="0"/>
          </p:cNvCxnSpPr>
          <p:nvPr/>
        </p:nvCxnSpPr>
        <p:spPr>
          <a:xfrm>
            <a:off x="7680960" y="2651760"/>
            <a:ext cx="342900" cy="274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C7BB766-387C-B80B-8BB2-F9BA5BDA7734}"/>
              </a:ext>
            </a:extLst>
          </p:cNvPr>
          <p:cNvCxnSpPr>
            <a:endCxn id="39" idx="0"/>
          </p:cNvCxnSpPr>
          <p:nvPr/>
        </p:nvCxnSpPr>
        <p:spPr>
          <a:xfrm>
            <a:off x="8023860" y="3429000"/>
            <a:ext cx="0" cy="274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Transformation Approach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502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640080" cy="7132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" y="896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Audit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11887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all 7 tables for nulls, duplicate keys, orphan records, and data-type mismatches before any transformation.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4592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640080" cy="7132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64592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4128" y="1719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Normalisation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201168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OrderDateKey (integer YYYYMMDD) converted to proper date; Year, Quarter, Month, and Fiscal Period derived columns added.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468880"/>
            <a:ext cx="640080" cy="7132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46888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4128" y="2542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Mapping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28346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Primary/foreign key joins defined across all dimension tables; referential integrity confirmed — zero unmatched keys.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29184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291840"/>
            <a:ext cx="640080" cy="7132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329184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24128" y="3364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 &amp; Measures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365760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Profit, Profit Margin %, YoY Growth %, Contribution %, COGS, Average Order Value, and Order Frequency created.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11480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4114800"/>
            <a:ext cx="640080" cy="7132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411480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24128" y="4187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Consistency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4128" y="44805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transformation logic replicated in Power Query, Tableau Calculated Fields, and Excel formulas — identical outputs verified.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Framework &amp; Metrics Used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502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278892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8778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252728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Revenue ($)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Year / Quarter / Month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Product Category &amp; Sub-category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Territory / Country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27832" y="841248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27832" y="841248"/>
            <a:ext cx="278892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8778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252728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($)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(%)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Goods Sold (COGS)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Category &amp; Region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81344" y="841248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81344" y="841248"/>
            <a:ext cx="278892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91072" y="8778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91072" y="1252728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(Unique)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(Qty)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($)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Frequency by Period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871216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871216"/>
            <a:ext cx="278892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29077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Trend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3282696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Revenue Growth (%)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Variance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Revenue Tracking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27832" y="2871216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27832" y="2871216"/>
            <a:ext cx="278892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37560" y="29077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3282696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by Revenue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Contribution (%)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Sub-category Ranking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Margin Analysis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81344" y="2871216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81344" y="2871216"/>
            <a:ext cx="278892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91072" y="29077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Region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91072" y="3282696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Country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Count by Segment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Profit Contribution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Territory Growth Rate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502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64008" cy="9144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9235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$29.4M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910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FY2011–2013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841248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23160" y="841248"/>
            <a:ext cx="64008" cy="91440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0" y="9235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$16.4M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560320" y="1389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Revenue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15910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Year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841248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0" y="841248"/>
            <a:ext cx="6400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9235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+131%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709160" y="1389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2012→2013 Growth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15910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Surge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31231" y="841248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20840" y="841248"/>
            <a:ext cx="64008" cy="914400"/>
          </a:xfrm>
          <a:prstGeom prst="rect">
            <a:avLst/>
          </a:prstGeom>
          <a:solidFill>
            <a:srgbClr val="14A8A6"/>
          </a:solidFill>
          <a:ln w="12700">
            <a:solidFill>
              <a:srgbClr val="14A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0" y="9235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$532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58000" y="1389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15910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9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274320" y="1920240"/>
          <a:ext cx="50292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5" name="Chart 1"/>
          <p:cNvGraphicFramePr/>
          <p:nvPr/>
        </p:nvGraphicFramePr>
        <p:xfrm>
          <a:off x="5440680" y="1920240"/>
          <a:ext cx="33832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502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6400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9235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$12.1M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910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841248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23160" y="841248"/>
            <a:ext cx="64008" cy="9144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0" y="9235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41.1%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560320" y="1389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15910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841248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0" y="841248"/>
            <a:ext cx="64008" cy="91440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9235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$17.3M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709160" y="1389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COGS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15910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20840" y="841248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20840" y="841248"/>
            <a:ext cx="64008" cy="9144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0" y="9235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58.9%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58000" y="1389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Ratio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15910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Revenue</a:t>
            </a:r>
            <a:endParaRPr lang="en-US" sz="9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274320" y="1920240"/>
          <a:ext cx="51206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hape 22"/>
          <p:cNvSpPr/>
          <p:nvPr/>
        </p:nvSpPr>
        <p:spPr>
          <a:xfrm>
            <a:off x="5486400" y="1920239"/>
            <a:ext cx="3337560" cy="2942705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577840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by Category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2331720"/>
          <a:ext cx="3154680" cy="1316736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Bikes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$28.3M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Accessories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$0.7M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$0.34M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Text 24"/>
          <p:cNvSpPr/>
          <p:nvPr/>
        </p:nvSpPr>
        <p:spPr>
          <a:xfrm>
            <a:off x="5577840" y="37947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Bikes deliver highest absolute profit at ~$6.0M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margin is 3.3pp below Bikes — pricing opportunity exists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shows lowest margin; too low volume to offset the gap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Category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502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41248"/>
          <a:ext cx="32004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3611880" y="841248"/>
          <a:ext cx="52120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566160"/>
            <a:ext cx="8595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457200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393192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Bikes: $14.5M (49.4%) — portfolio anchor; supply chain and inventory must be protected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 Bikes: $10.0M (33.9%) — strong secondary pillar; high margin, strong volume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&amp; Clothing combined &lt;4% of revenue — significant cross-sell and upsell white space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Regional Insights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502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41248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841248"/>
            <a:ext cx="33375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577840" y="9326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Share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261872"/>
          <a:ext cx="3154680" cy="1316736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America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$11.4M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Pacific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$8.9M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0" y="3639312"/>
            <a:ext cx="3337560" cy="914400"/>
          </a:xfrm>
          <a:prstGeom prst="rect">
            <a:avLst/>
          </a:prstGeom>
          <a:solidFill>
            <a:srgbClr val="F4F6F9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577840" y="371246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Facts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577840" y="3977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18,484 unique customers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20% drive ~65% of revenue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segment: higher avg basket</a:t>
            </a:r>
            <a:endParaRPr lang="en-US" sz="1050" dirty="0"/>
          </a:p>
        </p:txBody>
      </p:sp>
      <p:sp>
        <p:nvSpPr>
          <p:cNvPr id="7" name="Shape 7"/>
          <p:cNvSpPr/>
          <p:nvPr/>
        </p:nvSpPr>
        <p:spPr>
          <a:xfrm>
            <a:off x="274320" y="3657600"/>
            <a:ext cx="5029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57200" y="37307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Observations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397764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+ Australia = 63% — high dependency, low geographic diversification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Europe: 3 markets, 30.4% share — significant multi-market growth potential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($2.0M) severely under-indexed vs US ($9.4M) in same region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Dashboard — Full 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502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67512"/>
            <a:ext cx="8595360" cy="41193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864608"/>
            <a:ext cx="1463040" cy="292608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486460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920240" y="488289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Pivot-table powered · Slicer-driven · Self-serve · Zero BI licence required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Dashboard — Highlights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502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365760" y="795528"/>
            <a:ext cx="8458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16973" y="886968"/>
            <a:ext cx="79698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Highlights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6973" y="1243584"/>
            <a:ext cx="7969827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panel: Customer Count 18,484 · Total Sales $29.36M · Profit $12.08M · Qty 60,398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Region-wise chart: Australia leads in absolute volume; UK shows best margin ratio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Products: Mountain-200 &amp; Road-150 variants dominate the ranking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allow drill-down by Year, Country, and Category without formula changes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charts dynamically refresh when slicer selection changes — fully self-service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sheet is print-ready for executive distribution via PDF export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4736592"/>
            <a:ext cx="1463040" cy="292608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47365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920240" y="476402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AdventureWorks_-_Dashboard.xlsx — Rendered via LibreOffice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— Full 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502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29" y="795529"/>
            <a:ext cx="8595360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864608"/>
            <a:ext cx="146304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486460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920240" y="488289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design · Cross-filter actions · Multi-year trend overlay · Profit waterfall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— Visual Components Deep Dive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502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64008" cy="12344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9326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Treemap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1225296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 96.4% dominance visualised as area-proportional blocks. Accessories and Clothing remain visually marginal — instantly communicating the concentration risk.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841248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841248"/>
            <a:ext cx="64008" cy="12344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73752" y="9326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Trend Lines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73752" y="1225296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2011, 2012, and 2013 overlaid on single axis. 2013 growth curve steeply outpaces prior years — H2 acceleration clearly visible.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231136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231136"/>
            <a:ext cx="64008" cy="12344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" y="232257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Revenue &amp; Profit Bar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" y="2615184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dual-series bar separates Revenue from Profit per country. Highlights US/Australia scale vs. Europe's lower absolute but comparable margin.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231136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231136"/>
            <a:ext cx="64008" cy="12344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73752" y="232257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Sub-Category Ranking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73752" y="2615184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chart ranks 8 sub-categories. Road Bikes' $14.5M bar dwarfs all others — visual storytelling at its clearest.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621024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621024"/>
            <a:ext cx="64008" cy="12344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" y="37124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 Profit Bubble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" y="4005072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Three-axis bubble chart: X=Revenue, Y=Profit, Size=Scale. 2013 bubble is 3× the size of 2011 and 2012 — growth inflection made visual.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621024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3621024"/>
            <a:ext cx="64008" cy="12344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73752" y="37124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Waterfall Chart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73752" y="4005072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→ COGS → Gross Profit → Net Profit flow shows exactly where value is created and eroded across the income stack.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Full 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502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29" y="774746"/>
            <a:ext cx="8595360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864608"/>
            <a:ext cx="1463040" cy="292608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486460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920240" y="488289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DAX-powered KPIs · Drill-through pages · Row-level security · Microsoft 365 publishing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DAX Measures &amp; Model Design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502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4160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4160520" cy="347472"/>
          </a:xfrm>
          <a:prstGeom prst="rect">
            <a:avLst/>
          </a:prstGeom>
          <a:solidFill>
            <a:srgbClr val="201F1E"/>
          </a:solidFill>
          <a:ln w="12700">
            <a:solidFill>
              <a:srgbClr val="201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DAX Measures Built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794760" cy="3456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= SUM(Sales[ExtendedAmount])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 = [Total Revenue] − [Total COGS]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% = DIVIDE([Total Profit],[Total Revenue])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Revenue = TOTALYTD([Total Revenue], DimDate[Date])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% = DIVIDE([Revenue] − [Revenue PY],[Revenue PY])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PY = CALCULATE([Total Revenue], SAMEPERIODLASTYEAR(...))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% = DIVIDE([Revenue], CALCULATE([Revenue], ALL(Category)))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 = DIVIDE([Total Revenue], DISTINCTCOUNT([OrderNo]))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841248"/>
            <a:ext cx="4160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841248"/>
            <a:ext cx="4160520" cy="347472"/>
          </a:xfrm>
          <a:prstGeom prst="rect">
            <a:avLst/>
          </a:prstGeom>
          <a:solidFill>
            <a:srgbClr val="201F1E"/>
          </a:solidFill>
          <a:ln w="12700">
            <a:solidFill>
              <a:srgbClr val="201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89611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 Built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280160"/>
            <a:ext cx="3794760" cy="3456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Executive KPI Overview: 5 card visuals, yearly bar, monthly line, filled map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Sales Deep-Dive: Sub-category bar, year/country matrix, trend analysis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Profitability: COGS vs Revenue clustered bar, margin cards, category table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— Customer &amp; Region: Territory slicer, choropleth map, customer top-N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— Product Ranking: Top 10 / Bottom 10 bar, product-level drill-through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 — YoY Comparison: SAMEPERIODLASTYEAR waterfall, variance card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Evaluation: Excel vs Tableau vs Power BI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502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41248"/>
          <a:ext cx="8595360" cy="42062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Tableau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Ease of 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  Very 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  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  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Preparation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  Moderate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  Moderate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  Advanced (Power Query)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Modelling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★★☆☆☆  Basic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  Moderate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  Advanced (DAX + Joins)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Visualisation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  Standard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  Best-in-Class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  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★★☆☆☆  Limited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  Superior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  Strong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★★☆☆☆  Low (row limits)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  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  Enterprise-Grade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Collaboration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  SharePoint/Email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  Tableau Server/Public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  Power BI 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(M365 included)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$$$ Licence 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Pro $10/user/month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Ad-hoc analysis, Finance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 dashboards, Exploration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BI, Corporate KPIs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F6C77C-BB3D-CC8F-9A08-0655B6B4A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FC9A3ACA-309E-CDCC-7B01-7002941E86F4}"/>
              </a:ext>
            </a:extLst>
          </p:cNvPr>
          <p:cNvSpPr/>
          <p:nvPr/>
        </p:nvSpPr>
        <p:spPr>
          <a:xfrm>
            <a:off x="137160" y="501257"/>
            <a:ext cx="1280160" cy="502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ABF53F1-EC93-0C7E-2B4C-DAB51BC7893E}"/>
              </a:ext>
            </a:extLst>
          </p:cNvPr>
          <p:cNvSpPr/>
          <p:nvPr/>
        </p:nvSpPr>
        <p:spPr>
          <a:xfrm>
            <a:off x="274320" y="4864608"/>
            <a:ext cx="1463040" cy="292608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D4FCCA9-CED2-28C6-B96D-F621B75E5185}"/>
              </a:ext>
            </a:extLst>
          </p:cNvPr>
          <p:cNvSpPr/>
          <p:nvPr/>
        </p:nvSpPr>
        <p:spPr>
          <a:xfrm>
            <a:off x="274320" y="486460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FD4621-6441-303E-A056-6FAF97C10904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2A4A"/>
          </a:solidFill>
          <a:ln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E9674D-2848-9CEB-E72B-38C5283DA5EF}"/>
              </a:ext>
            </a:extLst>
          </p:cNvPr>
          <p:cNvSpPr/>
          <p:nvPr/>
        </p:nvSpPr>
        <p:spPr>
          <a:xfrm>
            <a:off x="0" y="0"/>
            <a:ext cx="137160" cy="457200"/>
          </a:xfrm>
          <a:prstGeom prst="rect">
            <a:avLst/>
          </a:prstGeom>
          <a:solidFill>
            <a:srgbClr val="FFB547"/>
          </a:solidFill>
          <a:ln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0CF092C-5005-8EB4-E964-26A137BCD99F}"/>
              </a:ext>
            </a:extLst>
          </p:cNvPr>
          <p:cNvSpPr/>
          <p:nvPr/>
        </p:nvSpPr>
        <p:spPr>
          <a:xfrm>
            <a:off x="137160" y="44057"/>
            <a:ext cx="8412480" cy="301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Aptos"/>
              </a:rPr>
              <a:t>SQL Code → Output  |  Database Setup &amp; Sales</a:t>
            </a:r>
          </a:p>
        </p:txBody>
      </p:sp>
      <p:sp>
        <p:nvSpPr>
          <p:cNvPr id="26" name="Rounded Rectangle 9">
            <a:extLst>
              <a:ext uri="{FF2B5EF4-FFF2-40B4-BE49-F238E27FC236}">
                <a16:creationId xmlns:a16="http://schemas.microsoft.com/office/drawing/2014/main" id="{FCA84638-BAFF-C03A-40E4-C37A2CB51FFE}"/>
              </a:ext>
            </a:extLst>
          </p:cNvPr>
          <p:cNvSpPr/>
          <p:nvPr/>
        </p:nvSpPr>
        <p:spPr>
          <a:xfrm>
            <a:off x="137160" y="591820"/>
            <a:ext cx="4434840" cy="4138168"/>
          </a:xfrm>
          <a:prstGeom prst="roundRect">
            <a:avLst>
              <a:gd name="adj" fmla="val 8000"/>
            </a:avLst>
          </a:prstGeom>
          <a:solidFill>
            <a:srgbClr val="122237"/>
          </a:solidFill>
          <a:ln w="12700"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382DFC-3D23-E8E4-094E-54EAD9E090C3}"/>
              </a:ext>
            </a:extLst>
          </p:cNvPr>
          <p:cNvSpPr/>
          <p:nvPr/>
        </p:nvSpPr>
        <p:spPr>
          <a:xfrm>
            <a:off x="274320" y="686169"/>
            <a:ext cx="4062845" cy="217840"/>
          </a:xfrm>
          <a:prstGeom prst="rect">
            <a:avLst/>
          </a:prstGeom>
          <a:solidFill>
            <a:srgbClr val="0F2A4A"/>
          </a:solidFill>
          <a:ln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err="1">
                <a:solidFill>
                  <a:srgbClr val="FFFFFF"/>
                </a:solidFill>
                <a:latin typeface="Aptos"/>
              </a:rPr>
              <a:t>adventure_db</a:t>
            </a:r>
            <a:r>
              <a:rPr lang="en-US" sz="1100" b="1" dirty="0">
                <a:solidFill>
                  <a:srgbClr val="FFFFFF"/>
                </a:solidFill>
                <a:latin typeface="Aptos"/>
              </a:rPr>
              <a:t>  —  SQL Query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89A9FD-2130-458A-60A1-B355C1C00624}"/>
              </a:ext>
            </a:extLst>
          </p:cNvPr>
          <p:cNvSpPr txBox="1"/>
          <p:nvPr/>
        </p:nvSpPr>
        <p:spPr>
          <a:xfrm>
            <a:off x="283464" y="965062"/>
            <a:ext cx="4142232" cy="3099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9" dirty="0">
                <a:solidFill>
                  <a:srgbClr val="FFFFFF"/>
                </a:solidFill>
                <a:latin typeface="Courier New"/>
              </a:rPr>
              <a:t> 1  -- Create &amp; use database
 2  CREATE DATABASE 
 3  </a:t>
            </a:r>
            <a:r>
              <a:rPr sz="919" dirty="0" err="1">
                <a:solidFill>
                  <a:srgbClr val="FFFFFF"/>
                </a:solidFill>
                <a:latin typeface="Courier New"/>
              </a:rPr>
              <a:t>advanture_db</a:t>
            </a:r>
            <a:r>
              <a:rPr sz="919" dirty="0">
                <a:solidFill>
                  <a:srgbClr val="FFFFFF"/>
                </a:solidFill>
                <a:latin typeface="Courier New"/>
              </a:rPr>
              <a:t>;
 4  USE 
 5  </a:t>
            </a:r>
            <a:r>
              <a:rPr sz="919" dirty="0" err="1">
                <a:solidFill>
                  <a:srgbClr val="FFFFFF"/>
                </a:solidFill>
                <a:latin typeface="Courier New"/>
              </a:rPr>
              <a:t>advanture_db</a:t>
            </a:r>
            <a:r>
              <a:rPr sz="919" dirty="0">
                <a:solidFill>
                  <a:srgbClr val="FFFFFF"/>
                </a:solidFill>
                <a:latin typeface="Courier New"/>
              </a:rPr>
              <a:t>;
 6  
 7  -- Add computed columns
 8  ALTER TABLE 
 9  </a:t>
            </a:r>
            <a:r>
              <a:rPr sz="919" dirty="0" err="1">
                <a:solidFill>
                  <a:srgbClr val="FFFFFF"/>
                </a:solidFill>
                <a:latin typeface="Courier New"/>
              </a:rPr>
              <a:t>sales_amount</a:t>
            </a:r>
            <a:r>
              <a:rPr sz="919" dirty="0">
                <a:solidFill>
                  <a:srgbClr val="FFFFFF"/>
                </a:solidFill>
                <a:latin typeface="Courier New"/>
              </a:rPr>
              <a:t> 
10    ADD COLUMN </a:t>
            </a:r>
            <a:r>
              <a:rPr sz="919" dirty="0" err="1">
                <a:solidFill>
                  <a:srgbClr val="FFFFFF"/>
                </a:solidFill>
                <a:latin typeface="Courier New"/>
              </a:rPr>
              <a:t>Total_sales</a:t>
            </a:r>
            <a:r>
              <a:rPr sz="919" dirty="0">
                <a:solidFill>
                  <a:srgbClr val="FFFFFF"/>
                </a:solidFill>
                <a:latin typeface="Courier New"/>
              </a:rPr>
              <a:t> DECIMAL(12,2);
11  UPDATE 
12  </a:t>
            </a:r>
            <a:r>
              <a:rPr sz="919" dirty="0" err="1">
                <a:solidFill>
                  <a:srgbClr val="FFFFFF"/>
                </a:solidFill>
                <a:latin typeface="Courier New"/>
              </a:rPr>
              <a:t>sales_amount</a:t>
            </a:r>
            <a:r>
              <a:rPr sz="919" dirty="0">
                <a:solidFill>
                  <a:srgbClr val="FFFFFF"/>
                </a:solidFill>
                <a:latin typeface="Courier New"/>
              </a:rPr>
              <a:t> 
13    SET </a:t>
            </a:r>
            <a:r>
              <a:rPr sz="919" dirty="0" err="1">
                <a:solidFill>
                  <a:srgbClr val="FFFFFF"/>
                </a:solidFill>
                <a:latin typeface="Courier New"/>
              </a:rPr>
              <a:t>Total_sales</a:t>
            </a:r>
            <a:r>
              <a:rPr sz="919" dirty="0">
                <a:solidFill>
                  <a:srgbClr val="FFFFFF"/>
                </a:solidFill>
                <a:latin typeface="Courier New"/>
              </a:rPr>
              <a:t> = (</a:t>
            </a:r>
            <a:r>
              <a:rPr sz="919" dirty="0" err="1">
                <a:solidFill>
                  <a:srgbClr val="FFFFFF"/>
                </a:solidFill>
                <a:latin typeface="Courier New"/>
              </a:rPr>
              <a:t>UnitPrice</a:t>
            </a:r>
            <a:r>
              <a:rPr sz="919" dirty="0">
                <a:solidFill>
                  <a:srgbClr val="FFFFFF"/>
                </a:solidFill>
                <a:latin typeface="Courier New"/>
              </a:rPr>
              <a:t>*</a:t>
            </a:r>
            <a:r>
              <a:rPr sz="919" dirty="0" err="1">
                <a:solidFill>
                  <a:srgbClr val="FFFFFF"/>
                </a:solidFill>
                <a:latin typeface="Courier New"/>
              </a:rPr>
              <a:t>OrderQty</a:t>
            </a:r>
            <a:r>
              <a:rPr sz="919" dirty="0">
                <a:solidFill>
                  <a:srgbClr val="FFFFFF"/>
                </a:solidFill>
                <a:latin typeface="Courier New"/>
              </a:rPr>
              <a:t>)
14                    - </a:t>
            </a:r>
            <a:r>
              <a:rPr sz="919" dirty="0" err="1">
                <a:solidFill>
                  <a:srgbClr val="FFFFFF"/>
                </a:solidFill>
                <a:latin typeface="Courier New"/>
              </a:rPr>
              <a:t>UnitPriceDiscountPct</a:t>
            </a:r>
            <a:r>
              <a:rPr sz="919" dirty="0">
                <a:solidFill>
                  <a:srgbClr val="FFFFFF"/>
                </a:solidFill>
                <a:latin typeface="Courier New"/>
              </a:rPr>
              <a:t>;
15  
16  -- Production cost &amp; Profit
17  ALTER TABLE 
18  </a:t>
            </a:r>
            <a:r>
              <a:rPr sz="919" dirty="0" err="1">
                <a:solidFill>
                  <a:srgbClr val="FFFFFF"/>
                </a:solidFill>
                <a:latin typeface="Courier New"/>
              </a:rPr>
              <a:t>sales_amount</a:t>
            </a:r>
            <a:r>
              <a:rPr sz="919" dirty="0">
                <a:solidFill>
                  <a:srgbClr val="FFFFFF"/>
                </a:solidFill>
                <a:latin typeface="Courier New"/>
              </a:rPr>
              <a:t>
19    ADD COLUMN </a:t>
            </a:r>
            <a:r>
              <a:rPr sz="919" dirty="0" err="1">
                <a:solidFill>
                  <a:srgbClr val="FFFFFF"/>
                </a:solidFill>
                <a:latin typeface="Courier New"/>
              </a:rPr>
              <a:t>production_cost</a:t>
            </a:r>
            <a:r>
              <a:rPr sz="919" dirty="0">
                <a:solidFill>
                  <a:srgbClr val="FFFFFF"/>
                </a:solidFill>
                <a:latin typeface="Courier New"/>
              </a:rPr>
              <a:t> DECIMAL(12,2),
20    ADD COLUMN Profit1 DECIMAL(12,2);
21  UPDATE 
22  </a:t>
            </a:r>
            <a:r>
              <a:rPr sz="919" dirty="0" err="1">
                <a:solidFill>
                  <a:srgbClr val="FFFFFF"/>
                </a:solidFill>
                <a:latin typeface="Courier New"/>
              </a:rPr>
              <a:t>sales_amount</a:t>
            </a:r>
            <a:r>
              <a:rPr sz="919" dirty="0">
                <a:solidFill>
                  <a:srgbClr val="FFFFFF"/>
                </a:solidFill>
                <a:latin typeface="Courier New"/>
              </a:rPr>
              <a:t> 
23    SET </a:t>
            </a:r>
            <a:r>
              <a:rPr sz="919" dirty="0" err="1">
                <a:solidFill>
                  <a:srgbClr val="FFFFFF"/>
                </a:solidFill>
                <a:latin typeface="Courier New"/>
              </a:rPr>
              <a:t>production_cost</a:t>
            </a:r>
            <a:r>
              <a:rPr sz="919" dirty="0">
                <a:solidFill>
                  <a:srgbClr val="FFFFFF"/>
                </a:solidFill>
                <a:latin typeface="Courier New"/>
              </a:rPr>
              <a:t> = </a:t>
            </a:r>
            <a:r>
              <a:rPr sz="919" dirty="0" err="1">
                <a:solidFill>
                  <a:srgbClr val="FFFFFF"/>
                </a:solidFill>
                <a:latin typeface="Courier New"/>
              </a:rPr>
              <a:t>OrderQty</a:t>
            </a:r>
            <a:r>
              <a:rPr sz="919" dirty="0">
                <a:solidFill>
                  <a:srgbClr val="FFFFFF"/>
                </a:solidFill>
                <a:latin typeface="Courier New"/>
              </a:rPr>
              <a:t> * </a:t>
            </a:r>
            <a:r>
              <a:rPr sz="919" dirty="0" err="1">
                <a:solidFill>
                  <a:srgbClr val="FFFFFF"/>
                </a:solidFill>
                <a:latin typeface="Courier New"/>
              </a:rPr>
              <a:t>StdCost</a:t>
            </a:r>
            <a:r>
              <a:rPr sz="919" dirty="0">
                <a:solidFill>
                  <a:srgbClr val="FFFFFF"/>
                </a:solidFill>
                <a:latin typeface="Courier New"/>
              </a:rPr>
              <a:t>;
24  UPDATE 
25  </a:t>
            </a:r>
            <a:r>
              <a:rPr sz="919" dirty="0" err="1">
                <a:solidFill>
                  <a:srgbClr val="FFFFFF"/>
                </a:solidFill>
                <a:latin typeface="Courier New"/>
              </a:rPr>
              <a:t>sales_amount</a:t>
            </a:r>
            <a:r>
              <a:rPr sz="919" dirty="0">
                <a:solidFill>
                  <a:srgbClr val="FFFFFF"/>
                </a:solidFill>
                <a:latin typeface="Courier New"/>
              </a:rPr>
              <a:t> 
26    SET Profit1 = </a:t>
            </a:r>
            <a:r>
              <a:rPr sz="919" dirty="0" err="1">
                <a:solidFill>
                  <a:srgbClr val="FFFFFF"/>
                </a:solidFill>
                <a:latin typeface="Courier New"/>
              </a:rPr>
              <a:t>Total_sales</a:t>
            </a:r>
            <a:r>
              <a:rPr sz="919" dirty="0">
                <a:solidFill>
                  <a:srgbClr val="FFFFFF"/>
                </a:solidFill>
                <a:latin typeface="Courier New"/>
              </a:rPr>
              <a:t> - </a:t>
            </a:r>
            <a:r>
              <a:rPr sz="919" dirty="0" err="1">
                <a:solidFill>
                  <a:srgbClr val="FFFFFF"/>
                </a:solidFill>
                <a:latin typeface="Courier New"/>
              </a:rPr>
              <a:t>production_cost</a:t>
            </a:r>
            <a:r>
              <a:rPr sz="919" dirty="0">
                <a:solidFill>
                  <a:srgbClr val="FFFFFF"/>
                </a:solidFill>
                <a:latin typeface="Courier New"/>
              </a:rPr>
              <a:t>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0C7B0E-05E0-8AC1-59FB-30B9A95562A4}"/>
              </a:ext>
            </a:extLst>
          </p:cNvPr>
          <p:cNvSpPr txBox="1"/>
          <p:nvPr/>
        </p:nvSpPr>
        <p:spPr>
          <a:xfrm>
            <a:off x="4709160" y="612209"/>
            <a:ext cx="411480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dirty="0">
                <a:solidFill>
                  <a:srgbClr val="1B8391"/>
                </a:solidFill>
                <a:latin typeface="Aptos"/>
              </a:rPr>
              <a:t>▶  OUTPUT: </a:t>
            </a:r>
            <a:r>
              <a:rPr lang="en-US" sz="1050" b="1" dirty="0" err="1">
                <a:solidFill>
                  <a:srgbClr val="1B8391"/>
                </a:solidFill>
                <a:latin typeface="Aptos"/>
              </a:rPr>
              <a:t>S</a:t>
            </a:r>
            <a:r>
              <a:rPr sz="1050" b="1" dirty="0" err="1">
                <a:solidFill>
                  <a:srgbClr val="1B8391"/>
                </a:solidFill>
                <a:latin typeface="Aptos"/>
              </a:rPr>
              <a:t>ales_</a:t>
            </a:r>
            <a:r>
              <a:rPr lang="en-US" sz="1050" b="1" dirty="0" err="1">
                <a:solidFill>
                  <a:srgbClr val="1B8391"/>
                </a:solidFill>
                <a:latin typeface="Aptos"/>
              </a:rPr>
              <a:t>A</a:t>
            </a:r>
            <a:r>
              <a:rPr sz="1050" b="1" dirty="0" err="1">
                <a:solidFill>
                  <a:srgbClr val="1B8391"/>
                </a:solidFill>
                <a:latin typeface="Aptos"/>
              </a:rPr>
              <a:t>mount</a:t>
            </a:r>
            <a:r>
              <a:rPr lang="en-US" sz="1050" b="1" dirty="0">
                <a:solidFill>
                  <a:srgbClr val="1B8391"/>
                </a:solidFill>
                <a:latin typeface="Aptos"/>
              </a:rPr>
              <a:t> from Order ID</a:t>
            </a:r>
            <a:endParaRPr sz="1050" b="1" dirty="0">
              <a:solidFill>
                <a:srgbClr val="1B8391"/>
              </a:solidFill>
              <a:latin typeface="Aptos"/>
            </a:endParaRP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4276C770-9F27-3E19-3135-AC2AF4F9F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354761"/>
              </p:ext>
            </p:extLst>
          </p:nvPr>
        </p:nvGraphicFramePr>
        <p:xfrm>
          <a:off x="4709160" y="889254"/>
          <a:ext cx="4114798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7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1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7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590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293B"/>
                          </a:solidFill>
                          <a:latin typeface="Aptos"/>
                        </a:rPr>
                        <a:t>Order ID</a:t>
                      </a:r>
                    </a:p>
                  </a:txBody>
                  <a:tcPr anchor="ctr">
                    <a:solidFill>
                      <a:srgbClr val="E3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dirty="0">
                          <a:solidFill>
                            <a:srgbClr val="1E293B"/>
                          </a:solidFill>
                          <a:latin typeface="Aptos"/>
                        </a:rPr>
                        <a:t>Total Sales</a:t>
                      </a:r>
                    </a:p>
                  </a:txBody>
                  <a:tcPr anchor="ctr">
                    <a:solidFill>
                      <a:srgbClr val="E3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293B"/>
                          </a:solidFill>
                          <a:latin typeface="Aptos"/>
                        </a:rPr>
                        <a:t>Prod. Cost</a:t>
                      </a:r>
                    </a:p>
                  </a:txBody>
                  <a:tcPr anchor="ctr">
                    <a:solidFill>
                      <a:srgbClr val="E3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293B"/>
                          </a:solidFill>
                          <a:latin typeface="Aptos"/>
                        </a:rPr>
                        <a:t>Profit</a:t>
                      </a:r>
                    </a:p>
                  </a:txBody>
                  <a:tcPr anchor="ctr">
                    <a:solidFill>
                      <a:srgbClr val="E3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908">
                <a:tc>
                  <a:txBody>
                    <a:bodyPr/>
                    <a:lstStyle/>
                    <a:p>
                      <a:pPr algn="l"/>
                      <a:r>
                        <a:rPr sz="819" b="0" dirty="0">
                          <a:solidFill>
                            <a:srgbClr val="1E293B"/>
                          </a:solidFill>
                          <a:latin typeface="Aptos"/>
                        </a:rPr>
                        <a:t>1001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$3,578.27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$2,456.80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$1,121.47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908">
                <a:tc>
                  <a:txBody>
                    <a:bodyPr/>
                    <a:lstStyle/>
                    <a:p>
                      <a:pPr algn="l"/>
                      <a:r>
                        <a:rPr sz="819" b="0" dirty="0">
                          <a:solidFill>
                            <a:srgbClr val="1E293B"/>
                          </a:solidFill>
                          <a:latin typeface="Aptos"/>
                        </a:rPr>
                        <a:t>1002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$4,320.00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$2,980.10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$1,339.90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908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1003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$1,890.55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$1,245.30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$645.25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908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1004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$6,750.90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$4,210.60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$2,540.30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908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1005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$2,199.00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$1,567.45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$631.55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908">
                <a:tc>
                  <a:txBody>
                    <a:bodyPr/>
                    <a:lstStyle/>
                    <a:p>
                      <a:pPr algn="l"/>
                      <a:r>
                        <a:rPr sz="819" b="0" dirty="0">
                          <a:solidFill>
                            <a:srgbClr val="1E293B"/>
                          </a:solidFill>
                          <a:latin typeface="Aptos"/>
                        </a:rPr>
                        <a:t>1006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$5,430.20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$3,680.75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$1,749.45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5908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1007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$890.40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$654.20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$236.20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5908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1008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$3,120.60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$2,100.50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$1,020.10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5908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1009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$7,650.00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$5,340.80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$2,309.20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5912">
                <a:tc>
                  <a:txBody>
                    <a:bodyPr/>
                    <a:lstStyle/>
                    <a:p>
                      <a:pPr algn="l"/>
                      <a:r>
                        <a:rPr sz="819" b="0" dirty="0">
                          <a:solidFill>
                            <a:srgbClr val="1E293B"/>
                          </a:solidFill>
                          <a:latin typeface="Aptos"/>
                        </a:rPr>
                        <a:t>1010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dirty="0">
                          <a:solidFill>
                            <a:srgbClr val="1E293B"/>
                          </a:solidFill>
                          <a:latin typeface="Aptos"/>
                        </a:rPr>
                        <a:t>$4,890.35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$3,210.90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 dirty="0">
                          <a:solidFill>
                            <a:srgbClr val="1E293B"/>
                          </a:solidFill>
                          <a:latin typeface="Aptos"/>
                        </a:rPr>
                        <a:t>$1,679.45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8C074A56-0BEB-235F-DBFF-0F423A9257D2}"/>
              </a:ext>
            </a:extLst>
          </p:cNvPr>
          <p:cNvSpPr txBox="1"/>
          <p:nvPr/>
        </p:nvSpPr>
        <p:spPr>
          <a:xfrm>
            <a:off x="1874520" y="4909082"/>
            <a:ext cx="8138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dirty="0">
                <a:solidFill>
                  <a:srgbClr val="586677"/>
                </a:solidFill>
                <a:latin typeface="Aptos"/>
              </a:rPr>
              <a:t>Creating </a:t>
            </a:r>
            <a:r>
              <a:rPr sz="950" b="0" dirty="0" err="1">
                <a:solidFill>
                  <a:srgbClr val="586677"/>
                </a:solidFill>
                <a:latin typeface="Aptos"/>
              </a:rPr>
              <a:t>adventure_db</a:t>
            </a:r>
            <a:r>
              <a:rPr sz="950" b="0" dirty="0">
                <a:solidFill>
                  <a:srgbClr val="586677"/>
                </a:solidFill>
                <a:latin typeface="Aptos"/>
              </a:rPr>
              <a:t>  •  Adding </a:t>
            </a:r>
            <a:r>
              <a:rPr sz="950" b="0" dirty="0" err="1">
                <a:solidFill>
                  <a:srgbClr val="586677"/>
                </a:solidFill>
                <a:latin typeface="Aptos"/>
              </a:rPr>
              <a:t>Total_Sales</a:t>
            </a:r>
            <a:r>
              <a:rPr sz="950" b="0" dirty="0">
                <a:solidFill>
                  <a:srgbClr val="586677"/>
                </a:solidFill>
                <a:latin typeface="Aptos"/>
              </a:rPr>
              <a:t>, Production Cost &amp; Profit columns  •  Date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1185235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CB2EAE-2206-7D1E-5730-E7D311490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F4409BE7-E03B-2272-7301-09684E7AA3AF}"/>
              </a:ext>
            </a:extLst>
          </p:cNvPr>
          <p:cNvSpPr/>
          <p:nvPr/>
        </p:nvSpPr>
        <p:spPr>
          <a:xfrm>
            <a:off x="137160" y="501257"/>
            <a:ext cx="1280160" cy="502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FC60536-59D5-79F0-1EE5-0120A1D9043A}"/>
              </a:ext>
            </a:extLst>
          </p:cNvPr>
          <p:cNvSpPr/>
          <p:nvPr/>
        </p:nvSpPr>
        <p:spPr>
          <a:xfrm>
            <a:off x="274320" y="4864608"/>
            <a:ext cx="1463040" cy="292608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5A0B8B6-3BAF-7E45-7DD9-564F09B861A1}"/>
              </a:ext>
            </a:extLst>
          </p:cNvPr>
          <p:cNvSpPr/>
          <p:nvPr/>
        </p:nvSpPr>
        <p:spPr>
          <a:xfrm>
            <a:off x="274320" y="486460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B027A6-96EB-7C22-5EBE-A803A7334D09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2A4A"/>
          </a:solidFill>
          <a:ln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E85E73-DECB-5FF4-23BC-CFFA65D4FE7E}"/>
              </a:ext>
            </a:extLst>
          </p:cNvPr>
          <p:cNvSpPr/>
          <p:nvPr/>
        </p:nvSpPr>
        <p:spPr>
          <a:xfrm>
            <a:off x="0" y="0"/>
            <a:ext cx="137160" cy="457200"/>
          </a:xfrm>
          <a:prstGeom prst="rect">
            <a:avLst/>
          </a:prstGeom>
          <a:solidFill>
            <a:srgbClr val="FFB547"/>
          </a:solidFill>
          <a:ln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A4ED5771-EA99-C56D-5FB2-581E020C5F83}"/>
              </a:ext>
            </a:extLst>
          </p:cNvPr>
          <p:cNvSpPr/>
          <p:nvPr/>
        </p:nvSpPr>
        <p:spPr>
          <a:xfrm>
            <a:off x="137160" y="44057"/>
            <a:ext cx="8412480" cy="301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Aptos"/>
              </a:rPr>
              <a:t>SQL Code → Output  |  Database Setup &amp; Sales</a:t>
            </a:r>
          </a:p>
        </p:txBody>
      </p:sp>
      <p:sp>
        <p:nvSpPr>
          <p:cNvPr id="26" name="Rounded Rectangle 9">
            <a:extLst>
              <a:ext uri="{FF2B5EF4-FFF2-40B4-BE49-F238E27FC236}">
                <a16:creationId xmlns:a16="http://schemas.microsoft.com/office/drawing/2014/main" id="{713E9ABF-54E5-DF8B-19EA-F4F866F108A5}"/>
              </a:ext>
            </a:extLst>
          </p:cNvPr>
          <p:cNvSpPr/>
          <p:nvPr/>
        </p:nvSpPr>
        <p:spPr>
          <a:xfrm>
            <a:off x="137160" y="591820"/>
            <a:ext cx="4434840" cy="4138168"/>
          </a:xfrm>
          <a:prstGeom prst="roundRect">
            <a:avLst>
              <a:gd name="adj" fmla="val 8000"/>
            </a:avLst>
          </a:prstGeom>
          <a:solidFill>
            <a:srgbClr val="122237"/>
          </a:solidFill>
          <a:ln w="12700"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73630CF-6680-07E5-2D9D-3BF515663816}"/>
              </a:ext>
            </a:extLst>
          </p:cNvPr>
          <p:cNvSpPr/>
          <p:nvPr/>
        </p:nvSpPr>
        <p:spPr>
          <a:xfrm>
            <a:off x="274320" y="686169"/>
            <a:ext cx="4062845" cy="217840"/>
          </a:xfrm>
          <a:prstGeom prst="rect">
            <a:avLst/>
          </a:prstGeom>
          <a:solidFill>
            <a:srgbClr val="0F2A4A"/>
          </a:solidFill>
          <a:ln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err="1">
                <a:solidFill>
                  <a:srgbClr val="FFFFFF"/>
                </a:solidFill>
                <a:latin typeface="Aptos"/>
              </a:rPr>
              <a:t>adventure_db</a:t>
            </a:r>
            <a:r>
              <a:rPr lang="en-US" sz="1100" b="1" dirty="0">
                <a:solidFill>
                  <a:srgbClr val="FFFFFF"/>
                </a:solidFill>
                <a:latin typeface="Aptos"/>
              </a:rPr>
              <a:t>  —  SQL 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63A2D3-8B61-3FA5-644A-38C362703A01}"/>
              </a:ext>
            </a:extLst>
          </p:cNvPr>
          <p:cNvSpPr txBox="1"/>
          <p:nvPr/>
        </p:nvSpPr>
        <p:spPr>
          <a:xfrm>
            <a:off x="1916083" y="4950160"/>
            <a:ext cx="6953597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dirty="0">
                <a:solidFill>
                  <a:srgbClr val="586677"/>
                </a:solidFill>
                <a:latin typeface="Aptos"/>
              </a:rPr>
              <a:t>Extracting Year, Month, Quarter, Weekday, Financial Month &amp; Financial Quarter from </a:t>
            </a:r>
            <a:r>
              <a:rPr sz="950" b="0" dirty="0" err="1">
                <a:solidFill>
                  <a:srgbClr val="586677"/>
                </a:solidFill>
                <a:latin typeface="Aptos"/>
              </a:rPr>
              <a:t>OrderDateKey</a:t>
            </a:r>
            <a:endParaRPr sz="950" b="0" dirty="0">
              <a:solidFill>
                <a:srgbClr val="586677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F1CE93-EB0F-4FC6-FA16-A138DD758B2E}"/>
              </a:ext>
            </a:extLst>
          </p:cNvPr>
          <p:cNvSpPr txBox="1"/>
          <p:nvPr/>
        </p:nvSpPr>
        <p:spPr>
          <a:xfrm>
            <a:off x="234626" y="944280"/>
            <a:ext cx="4142232" cy="36625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dirty="0">
                <a:solidFill>
                  <a:srgbClr val="FFFFFF"/>
                </a:solidFill>
                <a:latin typeface="Courier New"/>
              </a:rPr>
              <a:t> 1  -- Convert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OrderDateKey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 to date
 2  ALTER TABLE 
 3 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sales_amount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 
 4  ADD COLUMN date1 DATE;
 5  UPDATE 
 6 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sales_amount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 SET date1 = DATE(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OrderDateKey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);
 7  
 8  SELECT 
 9  YEAR(date1) AS year,
10         MONTH(date1) AS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monthno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,
11         MONTHNAME(date1) AS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month_full_name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,
12         CONCAT(
13  'Q'
14  ,QUARTER(date1)) AS Quarter,
15         DAYNAME(date1) AS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weekday_name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,
16         WEEK(date1) AS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week_no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,
17  
18  -- Financial Month (Apr=1)
19         IF(MONTH(date1)&gt;=4,
20            MONTH(date1)-3, MONTH(date1)+9) AS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fin_month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,
21  
22  -- Financial Quarter
23         CASE
24           WHEN MONTH(date1) BETWEEN 4 AND 6  THEN 
25  'Q1'
26           WHEN MONTH(date1) BETWEEN 7 AND 9  THEN 
27  'Q2'
28           WHEN MONTH(date1) BETWEEN 10 AND 12 THEN 
29  'Q3'
30           ELSE 
31  'Q4'
32   END AS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fin_qtr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
33  FROM 
34 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sales_amount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E2065B-40B3-C1C5-A797-0A7B641EE31D}"/>
              </a:ext>
            </a:extLst>
          </p:cNvPr>
          <p:cNvSpPr txBox="1"/>
          <p:nvPr/>
        </p:nvSpPr>
        <p:spPr>
          <a:xfrm>
            <a:off x="4709160" y="612209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dirty="0">
                <a:solidFill>
                  <a:srgbClr val="1B8391"/>
                </a:solidFill>
                <a:latin typeface="Aptos"/>
              </a:rPr>
              <a:t>▶  OUTPUT: Date Transformation Results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70B2301-5158-D496-CE42-23DBF3126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466877"/>
              </p:ext>
            </p:extLst>
          </p:nvPr>
        </p:nvGraphicFramePr>
        <p:xfrm>
          <a:off x="4754884" y="838708"/>
          <a:ext cx="4251957" cy="376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46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0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67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5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96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56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5908">
                <a:tc>
                  <a:txBody>
                    <a:bodyPr/>
                    <a:lstStyle/>
                    <a:p>
                      <a:pPr algn="l"/>
                      <a:r>
                        <a:rPr sz="850" b="1" dirty="0">
                          <a:solidFill>
                            <a:srgbClr val="1E293B"/>
                          </a:solidFill>
                          <a:latin typeface="Aptos"/>
                        </a:rPr>
                        <a:t>Date</a:t>
                      </a:r>
                    </a:p>
                  </a:txBody>
                  <a:tcPr anchor="ctr">
                    <a:solidFill>
                      <a:srgbClr val="E3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293B"/>
                          </a:solidFill>
                          <a:latin typeface="Aptos"/>
                        </a:rPr>
                        <a:t>Yr</a:t>
                      </a:r>
                    </a:p>
                  </a:txBody>
                  <a:tcPr anchor="ctr">
                    <a:solidFill>
                      <a:srgbClr val="E3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293B"/>
                          </a:solidFill>
                          <a:latin typeface="Aptos"/>
                        </a:rPr>
                        <a:t>Mo</a:t>
                      </a:r>
                    </a:p>
                  </a:txBody>
                  <a:tcPr anchor="ctr">
                    <a:solidFill>
                      <a:srgbClr val="E3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293B"/>
                          </a:solidFill>
                          <a:latin typeface="Aptos"/>
                        </a:rPr>
                        <a:t>Month Name</a:t>
                      </a:r>
                    </a:p>
                  </a:txBody>
                  <a:tcPr anchor="ctr">
                    <a:solidFill>
                      <a:srgbClr val="E3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293B"/>
                          </a:solidFill>
                          <a:latin typeface="Aptos"/>
                        </a:rPr>
                        <a:t>Cal Q</a:t>
                      </a:r>
                    </a:p>
                  </a:txBody>
                  <a:tcPr anchor="ctr">
                    <a:solidFill>
                      <a:srgbClr val="E3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293B"/>
                          </a:solidFill>
                          <a:latin typeface="Aptos"/>
                        </a:rPr>
                        <a:t>Weekday</a:t>
                      </a:r>
                    </a:p>
                  </a:txBody>
                  <a:tcPr anchor="ctr">
                    <a:solidFill>
                      <a:srgbClr val="E3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293B"/>
                          </a:solidFill>
                          <a:latin typeface="Aptos"/>
                        </a:rPr>
                        <a:t>Wk#</a:t>
                      </a:r>
                    </a:p>
                  </a:txBody>
                  <a:tcPr anchor="ctr">
                    <a:solidFill>
                      <a:srgbClr val="E3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293B"/>
                          </a:solidFill>
                          <a:latin typeface="Aptos"/>
                        </a:rPr>
                        <a:t>Fin Mo</a:t>
                      </a:r>
                    </a:p>
                  </a:txBody>
                  <a:tcPr anchor="ctr">
                    <a:solidFill>
                      <a:srgbClr val="E3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293B"/>
                          </a:solidFill>
                          <a:latin typeface="Aptos"/>
                        </a:rPr>
                        <a:t>Fin Q</a:t>
                      </a:r>
                    </a:p>
                  </a:txBody>
                  <a:tcPr anchor="ctr">
                    <a:solidFill>
                      <a:srgbClr val="E3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908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2010-12-29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2010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December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Q4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Wednesday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52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Q3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908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2011-01-28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2011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January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Q1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Friday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Q4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908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2011-04-10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2011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April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Q2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Sunday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14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Q1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908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2011-07-17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2011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July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Q3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Sunday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Q2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908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2011-10-05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2011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October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Q4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Wednesday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40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Q3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908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2012-02-14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2012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February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Q1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Tuesday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Q4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5908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2012-05-20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2012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May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Q2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Sunday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Q1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5908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2012-09-03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2012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September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Q3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Monday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Q2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5908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2013-01-01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2013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January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Q1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Tuesday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Q4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5912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2013-06-30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2013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June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Q2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Sunday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dirty="0">
                          <a:solidFill>
                            <a:srgbClr val="1E293B"/>
                          </a:solidFill>
                          <a:latin typeface="Aptos"/>
                        </a:rPr>
                        <a:t>Q1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837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83C455-DB8E-92A3-97F3-559B13131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11ECC760-97A3-12BE-0040-E639F028F497}"/>
              </a:ext>
            </a:extLst>
          </p:cNvPr>
          <p:cNvSpPr/>
          <p:nvPr/>
        </p:nvSpPr>
        <p:spPr>
          <a:xfrm>
            <a:off x="137160" y="501257"/>
            <a:ext cx="1280160" cy="502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18C9843-D3C8-7E2C-0A10-67F5EA8A9A91}"/>
              </a:ext>
            </a:extLst>
          </p:cNvPr>
          <p:cNvSpPr/>
          <p:nvPr/>
        </p:nvSpPr>
        <p:spPr>
          <a:xfrm>
            <a:off x="274320" y="4864608"/>
            <a:ext cx="1463040" cy="292608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3C6BDF7-47EC-2C3C-4EAD-5A190D2DFF47}"/>
              </a:ext>
            </a:extLst>
          </p:cNvPr>
          <p:cNvSpPr/>
          <p:nvPr/>
        </p:nvSpPr>
        <p:spPr>
          <a:xfrm>
            <a:off x="274320" y="486460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16E8DF-AAAB-3EBD-DA5F-143CF8C6BA5D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2A4A"/>
          </a:solidFill>
          <a:ln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64406D-5CE6-C3D9-A8B8-2C4385FC2980}"/>
              </a:ext>
            </a:extLst>
          </p:cNvPr>
          <p:cNvSpPr/>
          <p:nvPr/>
        </p:nvSpPr>
        <p:spPr>
          <a:xfrm>
            <a:off x="0" y="0"/>
            <a:ext cx="137160" cy="457200"/>
          </a:xfrm>
          <a:prstGeom prst="rect">
            <a:avLst/>
          </a:prstGeom>
          <a:solidFill>
            <a:srgbClr val="FFB547"/>
          </a:solidFill>
          <a:ln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A5E0C9D-288C-024B-7A80-496A8ABAC223}"/>
              </a:ext>
            </a:extLst>
          </p:cNvPr>
          <p:cNvSpPr/>
          <p:nvPr/>
        </p:nvSpPr>
        <p:spPr>
          <a:xfrm>
            <a:off x="137160" y="44057"/>
            <a:ext cx="8412480" cy="301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Aptos"/>
              </a:rPr>
              <a:t>SQL Code → Output  |  Database Setup &amp; Sales</a:t>
            </a:r>
          </a:p>
        </p:txBody>
      </p:sp>
      <p:sp>
        <p:nvSpPr>
          <p:cNvPr id="26" name="Rounded Rectangle 9">
            <a:extLst>
              <a:ext uri="{FF2B5EF4-FFF2-40B4-BE49-F238E27FC236}">
                <a16:creationId xmlns:a16="http://schemas.microsoft.com/office/drawing/2014/main" id="{00D83D9D-D1DB-DD22-5986-827EDF416DCE}"/>
              </a:ext>
            </a:extLst>
          </p:cNvPr>
          <p:cNvSpPr/>
          <p:nvPr/>
        </p:nvSpPr>
        <p:spPr>
          <a:xfrm>
            <a:off x="137160" y="591820"/>
            <a:ext cx="4434840" cy="4138168"/>
          </a:xfrm>
          <a:prstGeom prst="roundRect">
            <a:avLst>
              <a:gd name="adj" fmla="val 8000"/>
            </a:avLst>
          </a:prstGeom>
          <a:solidFill>
            <a:srgbClr val="122237"/>
          </a:solidFill>
          <a:ln w="12700"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DC3B05B-601C-5C94-7C81-26005B5C226C}"/>
              </a:ext>
            </a:extLst>
          </p:cNvPr>
          <p:cNvSpPr/>
          <p:nvPr/>
        </p:nvSpPr>
        <p:spPr>
          <a:xfrm>
            <a:off x="274320" y="686169"/>
            <a:ext cx="4062845" cy="217840"/>
          </a:xfrm>
          <a:prstGeom prst="rect">
            <a:avLst/>
          </a:prstGeom>
          <a:solidFill>
            <a:srgbClr val="0F2A4A"/>
          </a:solidFill>
          <a:ln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err="1">
                <a:solidFill>
                  <a:srgbClr val="FFFFFF"/>
                </a:solidFill>
                <a:latin typeface="Aptos"/>
              </a:rPr>
              <a:t>adventure_db</a:t>
            </a:r>
            <a:r>
              <a:rPr lang="en-US" sz="1100" b="1" dirty="0">
                <a:solidFill>
                  <a:srgbClr val="FFFFFF"/>
                </a:solidFill>
                <a:latin typeface="Aptos"/>
              </a:rPr>
              <a:t>  —  SQL Query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0382F3-DCE6-1262-1993-3DEC74E0C933}"/>
              </a:ext>
            </a:extLst>
          </p:cNvPr>
          <p:cNvSpPr txBox="1"/>
          <p:nvPr/>
        </p:nvSpPr>
        <p:spPr>
          <a:xfrm>
            <a:off x="1853738" y="4956048"/>
            <a:ext cx="8138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dirty="0">
                <a:solidFill>
                  <a:srgbClr val="586677"/>
                </a:solidFill>
                <a:latin typeface="Aptos"/>
              </a:rPr>
              <a:t>GROUP BY analysis using JOINs with </a:t>
            </a:r>
            <a:r>
              <a:rPr sz="950" b="0" dirty="0" err="1">
                <a:solidFill>
                  <a:srgbClr val="586677"/>
                </a:solidFill>
                <a:latin typeface="Aptos"/>
              </a:rPr>
              <a:t>dimsalesterritory</a:t>
            </a:r>
            <a:r>
              <a:rPr sz="950" b="0" dirty="0">
                <a:solidFill>
                  <a:srgbClr val="586677"/>
                </a:solidFill>
                <a:latin typeface="Aptos"/>
              </a:rPr>
              <a:t>  •  ORDER BY sales DESC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C34CA9-38D1-C519-E2C6-3F2844ACFBD2}"/>
              </a:ext>
            </a:extLst>
          </p:cNvPr>
          <p:cNvSpPr txBox="1"/>
          <p:nvPr/>
        </p:nvSpPr>
        <p:spPr>
          <a:xfrm>
            <a:off x="274320" y="914630"/>
            <a:ext cx="4142232" cy="36625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dirty="0">
                <a:solidFill>
                  <a:srgbClr val="FFFFFF"/>
                </a:solidFill>
                <a:latin typeface="Courier New"/>
              </a:rPr>
              <a:t> 1  -- Country-wise Sales
 2  SELECT 
 3 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d.SalesTerritoryCountry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,
 4         SUM(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e.Total_sales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) AS sales
 5  FROM 
 6 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sales_amount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 e
 7  JOIN 
 8 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dimsalesterritory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 d
 9    ON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e.SalesTerritoryKey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 =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d.SalesTerritoryKey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
10  GROUP BY 
11 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d.SalesTerritoryCountry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;
12  
13  -- Year-wise Sales
14  SELECT 
15  YEAR(date1), SUM(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Total_sales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) AS sales
16  FROM 
17 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sales_amount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
18  GROUP BY 
19  YEAR(date1)
20  ORDER BY 
21  sales DESC;
22  
23  -- Quarter-wise Sales
24  SELECT 
25    CONCAT(
26  'Q'
27  ,QUARTER(date1)) AS Quarter1,
28    SUM(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Total_sales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) AS sales
29  FROM 
30 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sales_amount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
31  GROUP BY 
32  Quarter1
33  ORDER BY 
34  Quarter1;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4B3C3D-EEFD-16F6-146E-CFBA09D1C1A1}"/>
              </a:ext>
            </a:extLst>
          </p:cNvPr>
          <p:cNvSpPr txBox="1"/>
          <p:nvPr/>
        </p:nvSpPr>
        <p:spPr>
          <a:xfrm>
            <a:off x="4754880" y="703649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dirty="0">
                <a:solidFill>
                  <a:srgbClr val="1B8391"/>
                </a:solidFill>
                <a:latin typeface="Aptos"/>
              </a:rPr>
              <a:t>▶  OUTPUT: Sales by Country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560A858-86FE-9284-FA98-CA5AA3310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846863"/>
              </p:ext>
            </p:extLst>
          </p:nvPr>
        </p:nvGraphicFramePr>
        <p:xfrm>
          <a:off x="4754880" y="1053084"/>
          <a:ext cx="4114800" cy="15186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4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965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293B"/>
                          </a:solidFill>
                          <a:latin typeface="Aptos"/>
                        </a:rPr>
                        <a:t>Country</a:t>
                      </a:r>
                    </a:p>
                  </a:txBody>
                  <a:tcPr anchor="ctr">
                    <a:solidFill>
                      <a:srgbClr val="E3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293B"/>
                          </a:solidFill>
                          <a:latin typeface="Aptos"/>
                        </a:rPr>
                        <a:t>Total Sales</a:t>
                      </a:r>
                    </a:p>
                  </a:txBody>
                  <a:tcPr anchor="ctr">
                    <a:solidFill>
                      <a:srgbClr val="E3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65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United States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$9,389,789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65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Australia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$6,141,350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65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Canada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$4,302,176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65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United Kingdom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$3,812,451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65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Germany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$2,894,230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66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France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 dirty="0">
                          <a:solidFill>
                            <a:srgbClr val="1E293B"/>
                          </a:solidFill>
                          <a:latin typeface="Aptos"/>
                        </a:rPr>
                        <a:t>$2,761,004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6BBA2F6C-2935-B72A-F963-03731C3709EA}"/>
              </a:ext>
            </a:extLst>
          </p:cNvPr>
          <p:cNvSpPr txBox="1"/>
          <p:nvPr/>
        </p:nvSpPr>
        <p:spPr>
          <a:xfrm>
            <a:off x="4800600" y="2700805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dirty="0">
                <a:solidFill>
                  <a:srgbClr val="1B8391"/>
                </a:solidFill>
                <a:latin typeface="Aptos"/>
              </a:rPr>
              <a:t>▶  OUTPUT: Year-wise Sales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E428B62-2FEF-19CD-7806-23959EF56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653086"/>
              </p:ext>
            </p:extLst>
          </p:nvPr>
        </p:nvGraphicFramePr>
        <p:xfrm>
          <a:off x="4800602" y="3049963"/>
          <a:ext cx="4114798" cy="1476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6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35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293B"/>
                          </a:solidFill>
                          <a:latin typeface="Aptos"/>
                        </a:rPr>
                        <a:t>Year</a:t>
                      </a:r>
                    </a:p>
                  </a:txBody>
                  <a:tcPr anchor="ctr">
                    <a:solidFill>
                      <a:srgbClr val="E3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293B"/>
                          </a:solidFill>
                          <a:latin typeface="Aptos"/>
                        </a:rPr>
                        <a:t>Total Sales</a:t>
                      </a:r>
                    </a:p>
                  </a:txBody>
                  <a:tcPr anchor="ctr">
                    <a:solidFill>
                      <a:srgbClr val="E3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293B"/>
                          </a:solidFill>
                          <a:latin typeface="Aptos"/>
                        </a:rPr>
                        <a:t>Rank</a:t>
                      </a:r>
                    </a:p>
                  </a:txBody>
                  <a:tcPr anchor="ctr">
                    <a:solidFill>
                      <a:srgbClr val="E3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351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2012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$11,469,175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#1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351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2013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$9,791,060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#2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351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2011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$6,231,080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#3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352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2010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$1,799,685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 dirty="0">
                          <a:solidFill>
                            <a:srgbClr val="1E293B"/>
                          </a:solidFill>
                          <a:latin typeface="Aptos"/>
                        </a:rPr>
                        <a:t>#4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74070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7C73A-A8A9-A679-4A80-A92E98E9E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0098650B-C650-343A-AB5C-34D49AD7AB54}"/>
              </a:ext>
            </a:extLst>
          </p:cNvPr>
          <p:cNvSpPr/>
          <p:nvPr/>
        </p:nvSpPr>
        <p:spPr>
          <a:xfrm>
            <a:off x="137160" y="501257"/>
            <a:ext cx="1280160" cy="502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84BC3E1-444C-3760-42A3-0B0D4E43BEF3}"/>
              </a:ext>
            </a:extLst>
          </p:cNvPr>
          <p:cNvSpPr/>
          <p:nvPr/>
        </p:nvSpPr>
        <p:spPr>
          <a:xfrm>
            <a:off x="274320" y="4864608"/>
            <a:ext cx="1463040" cy="292608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7B098DC-72A6-6A34-3BC8-23992285D625}"/>
              </a:ext>
            </a:extLst>
          </p:cNvPr>
          <p:cNvSpPr/>
          <p:nvPr/>
        </p:nvSpPr>
        <p:spPr>
          <a:xfrm>
            <a:off x="274320" y="486460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86F5F9-7F2C-787A-FBAB-B32833CFC72A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2A4A"/>
          </a:solidFill>
          <a:ln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ED5E5C-57CA-47B1-23E6-6D6E3CFBFE08}"/>
              </a:ext>
            </a:extLst>
          </p:cNvPr>
          <p:cNvSpPr/>
          <p:nvPr/>
        </p:nvSpPr>
        <p:spPr>
          <a:xfrm>
            <a:off x="0" y="0"/>
            <a:ext cx="137160" cy="457200"/>
          </a:xfrm>
          <a:prstGeom prst="rect">
            <a:avLst/>
          </a:prstGeom>
          <a:solidFill>
            <a:srgbClr val="FFB547"/>
          </a:solidFill>
          <a:ln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EDBB2ABD-7114-5F36-B841-F4D091E673F7}"/>
              </a:ext>
            </a:extLst>
          </p:cNvPr>
          <p:cNvSpPr/>
          <p:nvPr/>
        </p:nvSpPr>
        <p:spPr>
          <a:xfrm>
            <a:off x="137160" y="44057"/>
            <a:ext cx="8412480" cy="301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Aptos"/>
              </a:rPr>
              <a:t>SQL Code → Output  |  Database Setup &amp; Sales</a:t>
            </a:r>
          </a:p>
        </p:txBody>
      </p:sp>
      <p:sp>
        <p:nvSpPr>
          <p:cNvPr id="26" name="Rounded Rectangle 9">
            <a:extLst>
              <a:ext uri="{FF2B5EF4-FFF2-40B4-BE49-F238E27FC236}">
                <a16:creationId xmlns:a16="http://schemas.microsoft.com/office/drawing/2014/main" id="{2D57146C-7302-355C-821C-EE31FCBE6136}"/>
              </a:ext>
            </a:extLst>
          </p:cNvPr>
          <p:cNvSpPr/>
          <p:nvPr/>
        </p:nvSpPr>
        <p:spPr>
          <a:xfrm>
            <a:off x="137160" y="591820"/>
            <a:ext cx="4434840" cy="4138168"/>
          </a:xfrm>
          <a:prstGeom prst="roundRect">
            <a:avLst>
              <a:gd name="adj" fmla="val 8000"/>
            </a:avLst>
          </a:prstGeom>
          <a:solidFill>
            <a:srgbClr val="122237"/>
          </a:solidFill>
          <a:ln w="12700"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788372-06AA-C628-D143-02EFCBC64864}"/>
              </a:ext>
            </a:extLst>
          </p:cNvPr>
          <p:cNvSpPr/>
          <p:nvPr/>
        </p:nvSpPr>
        <p:spPr>
          <a:xfrm>
            <a:off x="274320" y="686169"/>
            <a:ext cx="4062845" cy="217840"/>
          </a:xfrm>
          <a:prstGeom prst="rect">
            <a:avLst/>
          </a:prstGeom>
          <a:solidFill>
            <a:srgbClr val="0F2A4A"/>
          </a:solidFill>
          <a:ln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err="1">
                <a:solidFill>
                  <a:srgbClr val="FFFFFF"/>
                </a:solidFill>
                <a:latin typeface="Aptos"/>
              </a:rPr>
              <a:t>adventure_db</a:t>
            </a:r>
            <a:r>
              <a:rPr lang="en-US" sz="1100" b="1" dirty="0">
                <a:solidFill>
                  <a:srgbClr val="FFFFFF"/>
                </a:solidFill>
                <a:latin typeface="Aptos"/>
              </a:rPr>
              <a:t>  —  SQL Query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67E3B6-1375-77D8-4084-5FC9962EBB49}"/>
              </a:ext>
            </a:extLst>
          </p:cNvPr>
          <p:cNvSpPr txBox="1"/>
          <p:nvPr/>
        </p:nvSpPr>
        <p:spPr>
          <a:xfrm>
            <a:off x="1853738" y="4956048"/>
            <a:ext cx="8138160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950" dirty="0">
                <a:solidFill>
                  <a:srgbClr val="586677"/>
                </a:solidFill>
                <a:latin typeface="Aptos"/>
              </a:rPr>
              <a:t>GROUP BY analysis using JOINs with </a:t>
            </a:r>
            <a:r>
              <a:rPr lang="en-US" sz="950" dirty="0" err="1">
                <a:solidFill>
                  <a:srgbClr val="586677"/>
                </a:solidFill>
                <a:latin typeface="Aptos"/>
              </a:rPr>
              <a:t>dimsalesterritory</a:t>
            </a:r>
            <a:r>
              <a:rPr lang="en-US" sz="950" dirty="0">
                <a:solidFill>
                  <a:srgbClr val="586677"/>
                </a:solidFill>
                <a:latin typeface="Aptos"/>
              </a:rPr>
              <a:t>  •  ORDER BY sales DESC  •  continued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362A1C-46D6-A03D-B930-05FF54AB1E91}"/>
              </a:ext>
            </a:extLst>
          </p:cNvPr>
          <p:cNvSpPr txBox="1"/>
          <p:nvPr/>
        </p:nvSpPr>
        <p:spPr>
          <a:xfrm>
            <a:off x="283464" y="1135934"/>
            <a:ext cx="4142232" cy="3099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>
                <a:solidFill>
                  <a:srgbClr val="FFFFFF"/>
                </a:solidFill>
                <a:latin typeface="Courier New"/>
              </a:rPr>
              <a:t>23  -- Quarter-wise Sales
24  SELECT 
25    CONCAT(
26  'Q'
27  ,QUARTER(date1)) AS Quarter1,
28    SUM(Total_sales) AS sales
29  FROM 
30  sales_amount
31  GROUP BY 
32  Quarter1
33  ORDER BY 
34  Quarter1;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A7B04F-DFBF-2B89-38E5-A4474A911EA0}"/>
              </a:ext>
            </a:extLst>
          </p:cNvPr>
          <p:cNvSpPr txBox="1"/>
          <p:nvPr/>
        </p:nvSpPr>
        <p:spPr>
          <a:xfrm>
            <a:off x="4709160" y="721129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dirty="0">
                <a:solidFill>
                  <a:srgbClr val="1B8391"/>
                </a:solidFill>
                <a:latin typeface="Aptos"/>
              </a:rPr>
              <a:t>▶  OUTPUT: Quarterly Sales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BAC4F73-5607-22E5-03D3-EB0C238E91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452451"/>
              </p:ext>
            </p:extLst>
          </p:nvPr>
        </p:nvGraphicFramePr>
        <p:xfrm>
          <a:off x="4745737" y="990877"/>
          <a:ext cx="4114799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6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2998">
                <a:tc>
                  <a:txBody>
                    <a:bodyPr/>
                    <a:lstStyle/>
                    <a:p>
                      <a:pPr algn="l"/>
                      <a:r>
                        <a:rPr sz="850" b="1" dirty="0">
                          <a:solidFill>
                            <a:srgbClr val="1E293B"/>
                          </a:solidFill>
                          <a:latin typeface="Aptos"/>
                        </a:rPr>
                        <a:t>Quarter</a:t>
                      </a:r>
                    </a:p>
                  </a:txBody>
                  <a:tcPr anchor="ctr">
                    <a:solidFill>
                      <a:srgbClr val="E3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293B"/>
                          </a:solidFill>
                          <a:latin typeface="Aptos"/>
                        </a:rPr>
                        <a:t>Total Sales</a:t>
                      </a:r>
                    </a:p>
                  </a:txBody>
                  <a:tcPr anchor="ctr">
                    <a:solidFill>
                      <a:srgbClr val="E3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998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Q1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$6,437,850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998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Q2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$7,612,340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998">
                <a:tc>
                  <a:txBody>
                    <a:bodyPr/>
                    <a:lstStyle/>
                    <a:p>
                      <a:pPr algn="l"/>
                      <a:r>
                        <a:rPr sz="819" b="0" dirty="0">
                          <a:solidFill>
                            <a:srgbClr val="1E293B"/>
                          </a:solidFill>
                          <a:latin typeface="Aptos"/>
                        </a:rPr>
                        <a:t>Q3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$8,210,625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300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Q4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 dirty="0">
                          <a:solidFill>
                            <a:srgbClr val="1E293B"/>
                          </a:solidFill>
                          <a:latin typeface="Aptos"/>
                        </a:rPr>
                        <a:t>$7,031,185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09651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606AE-A611-2C8F-2F8D-AB2064454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05E1541B-F606-D5E6-9104-2966A0CA1BF1}"/>
              </a:ext>
            </a:extLst>
          </p:cNvPr>
          <p:cNvSpPr/>
          <p:nvPr/>
        </p:nvSpPr>
        <p:spPr>
          <a:xfrm>
            <a:off x="137160" y="501257"/>
            <a:ext cx="1280160" cy="502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D317063-C33E-5CED-F6F8-73D73A149A7B}"/>
              </a:ext>
            </a:extLst>
          </p:cNvPr>
          <p:cNvSpPr/>
          <p:nvPr/>
        </p:nvSpPr>
        <p:spPr>
          <a:xfrm>
            <a:off x="274320" y="4864608"/>
            <a:ext cx="1463040" cy="292608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9D12DC1-DB16-6FA2-DC0C-3F647F2FD639}"/>
              </a:ext>
            </a:extLst>
          </p:cNvPr>
          <p:cNvSpPr/>
          <p:nvPr/>
        </p:nvSpPr>
        <p:spPr>
          <a:xfrm>
            <a:off x="274320" y="486460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86AE9C-A19A-11FA-402D-76810ED6B6E4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2A4A"/>
          </a:solidFill>
          <a:ln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74B412-DFEA-BB5E-A871-946911A147D6}"/>
              </a:ext>
            </a:extLst>
          </p:cNvPr>
          <p:cNvSpPr/>
          <p:nvPr/>
        </p:nvSpPr>
        <p:spPr>
          <a:xfrm>
            <a:off x="0" y="0"/>
            <a:ext cx="137160" cy="457200"/>
          </a:xfrm>
          <a:prstGeom prst="rect">
            <a:avLst/>
          </a:prstGeom>
          <a:solidFill>
            <a:srgbClr val="FFB547"/>
          </a:solidFill>
          <a:ln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C25D94C-89E5-197B-2735-B91ECDFA3081}"/>
              </a:ext>
            </a:extLst>
          </p:cNvPr>
          <p:cNvSpPr/>
          <p:nvPr/>
        </p:nvSpPr>
        <p:spPr>
          <a:xfrm>
            <a:off x="137160" y="44057"/>
            <a:ext cx="8412480" cy="301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Aptos"/>
              </a:rPr>
              <a:t>SQL Code → Output  |  Database Setup &amp; Sales</a:t>
            </a:r>
          </a:p>
        </p:txBody>
      </p:sp>
      <p:sp>
        <p:nvSpPr>
          <p:cNvPr id="26" name="Rounded Rectangle 9">
            <a:extLst>
              <a:ext uri="{FF2B5EF4-FFF2-40B4-BE49-F238E27FC236}">
                <a16:creationId xmlns:a16="http://schemas.microsoft.com/office/drawing/2014/main" id="{C405E84E-3A5A-6505-E513-1F68425C6166}"/>
              </a:ext>
            </a:extLst>
          </p:cNvPr>
          <p:cNvSpPr/>
          <p:nvPr/>
        </p:nvSpPr>
        <p:spPr>
          <a:xfrm>
            <a:off x="137160" y="591820"/>
            <a:ext cx="4434840" cy="4138168"/>
          </a:xfrm>
          <a:prstGeom prst="roundRect">
            <a:avLst>
              <a:gd name="adj" fmla="val 8000"/>
            </a:avLst>
          </a:prstGeom>
          <a:solidFill>
            <a:srgbClr val="122237"/>
          </a:solidFill>
          <a:ln w="12700"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86D8340-C1B0-6D38-3E3E-5173DA446DA8}"/>
              </a:ext>
            </a:extLst>
          </p:cNvPr>
          <p:cNvSpPr/>
          <p:nvPr/>
        </p:nvSpPr>
        <p:spPr>
          <a:xfrm>
            <a:off x="274320" y="686169"/>
            <a:ext cx="4062845" cy="217840"/>
          </a:xfrm>
          <a:prstGeom prst="rect">
            <a:avLst/>
          </a:prstGeom>
          <a:solidFill>
            <a:srgbClr val="0F2A4A"/>
          </a:solidFill>
          <a:ln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err="1">
                <a:solidFill>
                  <a:srgbClr val="FFFFFF"/>
                </a:solidFill>
                <a:latin typeface="Aptos"/>
              </a:rPr>
              <a:t>adventure_db</a:t>
            </a:r>
            <a:r>
              <a:rPr lang="en-US" sz="1100" b="1" dirty="0">
                <a:solidFill>
                  <a:srgbClr val="FFFFFF"/>
                </a:solidFill>
                <a:latin typeface="Aptos"/>
              </a:rPr>
              <a:t>  —  SQL Query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B71A79-5880-F2D7-4728-FD8DC2E78B9B}"/>
              </a:ext>
            </a:extLst>
          </p:cNvPr>
          <p:cNvSpPr txBox="1"/>
          <p:nvPr/>
        </p:nvSpPr>
        <p:spPr>
          <a:xfrm>
            <a:off x="1853738" y="4956048"/>
            <a:ext cx="8138160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950" dirty="0">
                <a:solidFill>
                  <a:srgbClr val="586677"/>
                </a:solidFill>
                <a:latin typeface="Aptos"/>
              </a:rPr>
              <a:t>JOIN with </a:t>
            </a:r>
            <a:r>
              <a:rPr lang="en-US" sz="950" dirty="0" err="1">
                <a:solidFill>
                  <a:srgbClr val="586677"/>
                </a:solidFill>
                <a:latin typeface="Aptos"/>
              </a:rPr>
              <a:t>dimproduct</a:t>
            </a:r>
            <a:r>
              <a:rPr lang="en-US" sz="950" dirty="0">
                <a:solidFill>
                  <a:srgbClr val="586677"/>
                </a:solidFill>
                <a:latin typeface="Aptos"/>
              </a:rPr>
              <a:t> &amp; </a:t>
            </a:r>
            <a:r>
              <a:rPr lang="en-US" sz="950" dirty="0" err="1">
                <a:solidFill>
                  <a:srgbClr val="586677"/>
                </a:solidFill>
                <a:latin typeface="Aptos"/>
              </a:rPr>
              <a:t>dimcustomer</a:t>
            </a:r>
            <a:r>
              <a:rPr lang="en-US" sz="950" dirty="0">
                <a:solidFill>
                  <a:srgbClr val="586677"/>
                </a:solidFill>
                <a:latin typeface="Aptos"/>
              </a:rPr>
              <a:t>  •  Window function DENSE_RANK() for 2nd highest product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523A1B-841F-64C2-2DB6-08FBB0FB5864}"/>
              </a:ext>
            </a:extLst>
          </p:cNvPr>
          <p:cNvSpPr txBox="1"/>
          <p:nvPr/>
        </p:nvSpPr>
        <p:spPr>
          <a:xfrm>
            <a:off x="234626" y="893618"/>
            <a:ext cx="4142232" cy="38779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dirty="0">
                <a:solidFill>
                  <a:srgbClr val="FFFFFF"/>
                </a:solidFill>
                <a:latin typeface="Courier New"/>
              </a:rPr>
              <a:t> 1  -- Top 5 Products by Sales
 2  SELECT 
 3 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p.EnglishProductName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,
 4         ROUND(SUM(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s.Sales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),2) AS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total_sales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
 5  FROM 
 6 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sales_amount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 s
 7  JOIN 
 8 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dimproduct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 p ON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s.ProductKey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=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p.ProductKey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
 9  GROUP BY 
10 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EnglishProductName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
11  ORDER BY 
12 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total_sales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 DESC LIMIT 5;
13  
14  -- Top 5 Customers
15  SELECT 
16  CONCAT(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c.FirstName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,
17    ' ',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c.MiddleName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,' ',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c.LastName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) AS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FullName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,
18    SUM(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s.Sales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) AS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Total_Sales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
19  FROM 
20 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sales_amount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 s
21  JOIN 
22 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dimcustomer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 c ON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s.CustomerKey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=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c.CustomerKey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
23  GROUP BY 
24 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FullName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 ORDER BY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Total_Sales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 DESC LIMIT 5;
25  
26  -- 2nd Highest Selling Product (DENSE_RANK)
27  SELECT 
28  * FROM (
29    SELECT 
30 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EnglishProductName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, SUM(sales) AS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Total_sales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,
31      DENSE_RANK() OVER(
32  ORDER BY SUM(sales) DESC
33  )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rnk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
34    FROM 
35 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sales_amount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 GROUP BY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EnglishProductName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
36  ) p WHERE </a:t>
            </a:r>
            <a:r>
              <a:rPr sz="700" dirty="0" err="1">
                <a:solidFill>
                  <a:srgbClr val="FFFFFF"/>
                </a:solidFill>
                <a:latin typeface="Courier New"/>
              </a:rPr>
              <a:t>rnk</a:t>
            </a:r>
            <a:r>
              <a:rPr sz="700" dirty="0">
                <a:solidFill>
                  <a:srgbClr val="FFFFFF"/>
                </a:solidFill>
                <a:latin typeface="Courier New"/>
              </a:rPr>
              <a:t>=2;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D19D7A-02B0-1A2D-E342-6A9C2D39F2DA}"/>
              </a:ext>
            </a:extLst>
          </p:cNvPr>
          <p:cNvSpPr txBox="1"/>
          <p:nvPr/>
        </p:nvSpPr>
        <p:spPr>
          <a:xfrm>
            <a:off x="4754880" y="768177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dirty="0">
                <a:solidFill>
                  <a:srgbClr val="1B8391"/>
                </a:solidFill>
                <a:latin typeface="Aptos"/>
              </a:rPr>
              <a:t>▶  OUTPUT: Top 5 Products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874AC46-CE1D-E5B2-001B-598B0E89B7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652631"/>
              </p:ext>
            </p:extLst>
          </p:nvPr>
        </p:nvGraphicFramePr>
        <p:xfrm>
          <a:off x="4754882" y="1042832"/>
          <a:ext cx="4114798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6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83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293B"/>
                          </a:solidFill>
                          <a:latin typeface="Aptos"/>
                        </a:rPr>
                        <a:t>#</a:t>
                      </a:r>
                    </a:p>
                  </a:txBody>
                  <a:tcPr anchor="ctr">
                    <a:solidFill>
                      <a:srgbClr val="E3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dirty="0">
                          <a:solidFill>
                            <a:srgbClr val="1E293B"/>
                          </a:solidFill>
                          <a:latin typeface="Aptos"/>
                        </a:rPr>
                        <a:t>Product</a:t>
                      </a:r>
                    </a:p>
                  </a:txBody>
                  <a:tcPr anchor="ctr">
                    <a:solidFill>
                      <a:srgbClr val="E3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293B"/>
                          </a:solidFill>
                          <a:latin typeface="Aptos"/>
                        </a:rPr>
                        <a:t>Sales</a:t>
                      </a:r>
                    </a:p>
                  </a:txBody>
                  <a:tcPr anchor="ctr">
                    <a:solidFill>
                      <a:srgbClr val="E3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Mountain-200 Black, 38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$4,391,520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Mountain-200 Black, 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$4,121,780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Mountain-200 Silver, 38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$3,982,340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Road-150 Red, 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$3,741,920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Mountain-200 Silver, 46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 dirty="0">
                          <a:solidFill>
                            <a:srgbClr val="1E293B"/>
                          </a:solidFill>
                          <a:latin typeface="Aptos"/>
                        </a:rPr>
                        <a:t>$3,512,670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91176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E9B6F-58A7-A3E0-FB17-8A7AB6EEC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FBE5474D-7CA6-AB2D-78B4-9B9B32088A21}"/>
              </a:ext>
            </a:extLst>
          </p:cNvPr>
          <p:cNvSpPr/>
          <p:nvPr/>
        </p:nvSpPr>
        <p:spPr>
          <a:xfrm>
            <a:off x="137160" y="501257"/>
            <a:ext cx="1280160" cy="502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1B8C0B4-BA2B-612E-938F-FC825385CF60}"/>
              </a:ext>
            </a:extLst>
          </p:cNvPr>
          <p:cNvSpPr/>
          <p:nvPr/>
        </p:nvSpPr>
        <p:spPr>
          <a:xfrm>
            <a:off x="274320" y="4864608"/>
            <a:ext cx="1463040" cy="292608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0BC39DF-51E2-92EA-E1FF-168672CD1022}"/>
              </a:ext>
            </a:extLst>
          </p:cNvPr>
          <p:cNvSpPr/>
          <p:nvPr/>
        </p:nvSpPr>
        <p:spPr>
          <a:xfrm>
            <a:off x="274320" y="486460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697EB1-0AD0-D01E-F2E7-6BDB4F40ECBB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2A4A"/>
          </a:solidFill>
          <a:ln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5EC01F-CCE5-A404-3BF5-23A73D6614FD}"/>
              </a:ext>
            </a:extLst>
          </p:cNvPr>
          <p:cNvSpPr/>
          <p:nvPr/>
        </p:nvSpPr>
        <p:spPr>
          <a:xfrm>
            <a:off x="0" y="0"/>
            <a:ext cx="137160" cy="457200"/>
          </a:xfrm>
          <a:prstGeom prst="rect">
            <a:avLst/>
          </a:prstGeom>
          <a:solidFill>
            <a:srgbClr val="FFB547"/>
          </a:solidFill>
          <a:ln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95D7E54B-32F3-CAC0-F034-51B41EB96DF6}"/>
              </a:ext>
            </a:extLst>
          </p:cNvPr>
          <p:cNvSpPr/>
          <p:nvPr/>
        </p:nvSpPr>
        <p:spPr>
          <a:xfrm>
            <a:off x="137160" y="44057"/>
            <a:ext cx="8412480" cy="301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Aptos"/>
              </a:rPr>
              <a:t>SQL Code → Output  |  Database Setup &amp; Sales</a:t>
            </a:r>
          </a:p>
        </p:txBody>
      </p:sp>
      <p:sp>
        <p:nvSpPr>
          <p:cNvPr id="26" name="Rounded Rectangle 9">
            <a:extLst>
              <a:ext uri="{FF2B5EF4-FFF2-40B4-BE49-F238E27FC236}">
                <a16:creationId xmlns:a16="http://schemas.microsoft.com/office/drawing/2014/main" id="{1EA93799-E8D8-D1A5-C4C4-F00434ABD4D0}"/>
              </a:ext>
            </a:extLst>
          </p:cNvPr>
          <p:cNvSpPr/>
          <p:nvPr/>
        </p:nvSpPr>
        <p:spPr>
          <a:xfrm>
            <a:off x="137160" y="591820"/>
            <a:ext cx="4434840" cy="4138168"/>
          </a:xfrm>
          <a:prstGeom prst="roundRect">
            <a:avLst>
              <a:gd name="adj" fmla="val 8000"/>
            </a:avLst>
          </a:prstGeom>
          <a:solidFill>
            <a:srgbClr val="122237"/>
          </a:solidFill>
          <a:ln w="12700"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5B659F-C014-7161-38DA-AF990CC21DF2}"/>
              </a:ext>
            </a:extLst>
          </p:cNvPr>
          <p:cNvSpPr/>
          <p:nvPr/>
        </p:nvSpPr>
        <p:spPr>
          <a:xfrm>
            <a:off x="274320" y="686169"/>
            <a:ext cx="4062845" cy="217840"/>
          </a:xfrm>
          <a:prstGeom prst="rect">
            <a:avLst/>
          </a:prstGeom>
          <a:solidFill>
            <a:srgbClr val="0F2A4A"/>
          </a:solidFill>
          <a:ln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err="1">
                <a:solidFill>
                  <a:srgbClr val="FFFFFF"/>
                </a:solidFill>
                <a:latin typeface="Aptos"/>
              </a:rPr>
              <a:t>adventure_db</a:t>
            </a:r>
            <a:r>
              <a:rPr lang="en-US" sz="1100" b="1" dirty="0">
                <a:solidFill>
                  <a:srgbClr val="FFFFFF"/>
                </a:solidFill>
                <a:latin typeface="Aptos"/>
              </a:rPr>
              <a:t>  —  SQL Query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D63492-67AD-7005-3E49-A148EA173F61}"/>
              </a:ext>
            </a:extLst>
          </p:cNvPr>
          <p:cNvSpPr txBox="1"/>
          <p:nvPr/>
        </p:nvSpPr>
        <p:spPr>
          <a:xfrm>
            <a:off x="1853738" y="4956048"/>
            <a:ext cx="8138160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950" dirty="0">
                <a:solidFill>
                  <a:srgbClr val="586677"/>
                </a:solidFill>
                <a:latin typeface="Aptos"/>
              </a:rPr>
              <a:t>JOIN with </a:t>
            </a:r>
            <a:r>
              <a:rPr lang="en-US" sz="950" dirty="0" err="1">
                <a:solidFill>
                  <a:srgbClr val="586677"/>
                </a:solidFill>
                <a:latin typeface="Aptos"/>
              </a:rPr>
              <a:t>dimproduct</a:t>
            </a:r>
            <a:r>
              <a:rPr lang="en-US" sz="950" dirty="0">
                <a:solidFill>
                  <a:srgbClr val="586677"/>
                </a:solidFill>
                <a:latin typeface="Aptos"/>
              </a:rPr>
              <a:t> &amp; </a:t>
            </a:r>
            <a:r>
              <a:rPr lang="en-US" sz="950" dirty="0" err="1">
                <a:solidFill>
                  <a:srgbClr val="586677"/>
                </a:solidFill>
                <a:latin typeface="Aptos"/>
              </a:rPr>
              <a:t>dimcustomer</a:t>
            </a:r>
            <a:r>
              <a:rPr lang="en-US" sz="950" dirty="0">
                <a:solidFill>
                  <a:srgbClr val="586677"/>
                </a:solidFill>
                <a:latin typeface="Aptos"/>
              </a:rPr>
              <a:t>  •  Window function DENSE_RANK() for 2nd highest product  •  continued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FE2CBD-0ACB-B2D9-2507-D3D43E8679EE}"/>
              </a:ext>
            </a:extLst>
          </p:cNvPr>
          <p:cNvSpPr txBox="1"/>
          <p:nvPr/>
        </p:nvSpPr>
        <p:spPr>
          <a:xfrm>
            <a:off x="4754880" y="703649"/>
            <a:ext cx="411480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050" b="1" dirty="0">
                <a:solidFill>
                  <a:srgbClr val="1B8391"/>
                </a:solidFill>
                <a:latin typeface="Aptos"/>
              </a:rPr>
              <a:t>▶  OUTPUT: Top 5 Customers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837262-6706-CA09-5F42-EA2E4FC6AD22}"/>
              </a:ext>
            </a:extLst>
          </p:cNvPr>
          <p:cNvSpPr txBox="1"/>
          <p:nvPr/>
        </p:nvSpPr>
        <p:spPr>
          <a:xfrm>
            <a:off x="4800600" y="2700805"/>
            <a:ext cx="411480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050" b="1" dirty="0">
                <a:solidFill>
                  <a:srgbClr val="1B8391"/>
                </a:solidFill>
                <a:latin typeface="Aptos"/>
              </a:rPr>
              <a:t>▶  OUTPUT: 2nd Highest Product — DENSE_RANK()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71694F-3256-A6F2-2063-14DD64EFC6D4}"/>
              </a:ext>
            </a:extLst>
          </p:cNvPr>
          <p:cNvSpPr txBox="1"/>
          <p:nvPr/>
        </p:nvSpPr>
        <p:spPr>
          <a:xfrm>
            <a:off x="283464" y="1130069"/>
            <a:ext cx="4142232" cy="3099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dirty="0">
                <a:solidFill>
                  <a:srgbClr val="FFFFFF"/>
                </a:solidFill>
                <a:latin typeface="Courier New"/>
              </a:rPr>
              <a:t>14  -- Top 5 Customers
15  SELECT 
16  CONCAT(</a:t>
            </a:r>
            <a:r>
              <a:rPr sz="860" dirty="0" err="1">
                <a:solidFill>
                  <a:srgbClr val="FFFFFF"/>
                </a:solidFill>
                <a:latin typeface="Courier New"/>
              </a:rPr>
              <a:t>c.FirstName</a:t>
            </a:r>
            <a:r>
              <a:rPr sz="860" dirty="0">
                <a:solidFill>
                  <a:srgbClr val="FFFFFF"/>
                </a:solidFill>
                <a:latin typeface="Courier New"/>
              </a:rPr>
              <a:t>,
17    ' ',</a:t>
            </a:r>
            <a:r>
              <a:rPr sz="860" dirty="0" err="1">
                <a:solidFill>
                  <a:srgbClr val="FFFFFF"/>
                </a:solidFill>
                <a:latin typeface="Courier New"/>
              </a:rPr>
              <a:t>c.MiddleName</a:t>
            </a:r>
            <a:r>
              <a:rPr sz="860" dirty="0">
                <a:solidFill>
                  <a:srgbClr val="FFFFFF"/>
                </a:solidFill>
                <a:latin typeface="Courier New"/>
              </a:rPr>
              <a:t>,' ',</a:t>
            </a:r>
            <a:r>
              <a:rPr sz="860" dirty="0" err="1">
                <a:solidFill>
                  <a:srgbClr val="FFFFFF"/>
                </a:solidFill>
                <a:latin typeface="Courier New"/>
              </a:rPr>
              <a:t>c.LastName</a:t>
            </a:r>
            <a:r>
              <a:rPr sz="860" dirty="0">
                <a:solidFill>
                  <a:srgbClr val="FFFFFF"/>
                </a:solidFill>
                <a:latin typeface="Courier New"/>
              </a:rPr>
              <a:t>) AS </a:t>
            </a:r>
            <a:r>
              <a:rPr sz="860" dirty="0" err="1">
                <a:solidFill>
                  <a:srgbClr val="FFFFFF"/>
                </a:solidFill>
                <a:latin typeface="Courier New"/>
              </a:rPr>
              <a:t>FullName</a:t>
            </a:r>
            <a:r>
              <a:rPr sz="860" dirty="0">
                <a:solidFill>
                  <a:srgbClr val="FFFFFF"/>
                </a:solidFill>
                <a:latin typeface="Courier New"/>
              </a:rPr>
              <a:t>,
18    SUM(</a:t>
            </a:r>
            <a:r>
              <a:rPr sz="860" dirty="0" err="1">
                <a:solidFill>
                  <a:srgbClr val="FFFFFF"/>
                </a:solidFill>
                <a:latin typeface="Courier New"/>
              </a:rPr>
              <a:t>s.Sales</a:t>
            </a:r>
            <a:r>
              <a:rPr sz="860" dirty="0">
                <a:solidFill>
                  <a:srgbClr val="FFFFFF"/>
                </a:solidFill>
                <a:latin typeface="Courier New"/>
              </a:rPr>
              <a:t>) AS </a:t>
            </a:r>
            <a:r>
              <a:rPr sz="860" dirty="0" err="1">
                <a:solidFill>
                  <a:srgbClr val="FFFFFF"/>
                </a:solidFill>
                <a:latin typeface="Courier New"/>
              </a:rPr>
              <a:t>Total_Sales</a:t>
            </a:r>
            <a:r>
              <a:rPr sz="860" dirty="0">
                <a:solidFill>
                  <a:srgbClr val="FFFFFF"/>
                </a:solidFill>
                <a:latin typeface="Courier New"/>
              </a:rPr>
              <a:t>
19  FROM 
20  </a:t>
            </a:r>
            <a:r>
              <a:rPr sz="860" dirty="0" err="1">
                <a:solidFill>
                  <a:srgbClr val="FFFFFF"/>
                </a:solidFill>
                <a:latin typeface="Courier New"/>
              </a:rPr>
              <a:t>sales_amount</a:t>
            </a:r>
            <a:r>
              <a:rPr sz="860" dirty="0">
                <a:solidFill>
                  <a:srgbClr val="FFFFFF"/>
                </a:solidFill>
                <a:latin typeface="Courier New"/>
              </a:rPr>
              <a:t> s
21  JOIN 
22  </a:t>
            </a:r>
            <a:r>
              <a:rPr sz="860" dirty="0" err="1">
                <a:solidFill>
                  <a:srgbClr val="FFFFFF"/>
                </a:solidFill>
                <a:latin typeface="Courier New"/>
              </a:rPr>
              <a:t>dimcustomer</a:t>
            </a:r>
            <a:r>
              <a:rPr sz="860" dirty="0">
                <a:solidFill>
                  <a:srgbClr val="FFFFFF"/>
                </a:solidFill>
                <a:latin typeface="Courier New"/>
              </a:rPr>
              <a:t> c ON </a:t>
            </a:r>
            <a:r>
              <a:rPr sz="860" dirty="0" err="1">
                <a:solidFill>
                  <a:srgbClr val="FFFFFF"/>
                </a:solidFill>
                <a:latin typeface="Courier New"/>
              </a:rPr>
              <a:t>s.CustomerKey</a:t>
            </a:r>
            <a:r>
              <a:rPr sz="860" dirty="0">
                <a:solidFill>
                  <a:srgbClr val="FFFFFF"/>
                </a:solidFill>
                <a:latin typeface="Courier New"/>
              </a:rPr>
              <a:t>=</a:t>
            </a:r>
            <a:r>
              <a:rPr sz="860" dirty="0" err="1">
                <a:solidFill>
                  <a:srgbClr val="FFFFFF"/>
                </a:solidFill>
                <a:latin typeface="Courier New"/>
              </a:rPr>
              <a:t>c.CustomerKey</a:t>
            </a:r>
            <a:r>
              <a:rPr sz="860" dirty="0">
                <a:solidFill>
                  <a:srgbClr val="FFFFFF"/>
                </a:solidFill>
                <a:latin typeface="Courier New"/>
              </a:rPr>
              <a:t>
23  GROUP BY 
24  </a:t>
            </a:r>
            <a:r>
              <a:rPr sz="860" dirty="0" err="1">
                <a:solidFill>
                  <a:srgbClr val="FFFFFF"/>
                </a:solidFill>
                <a:latin typeface="Courier New"/>
              </a:rPr>
              <a:t>FullName</a:t>
            </a:r>
            <a:r>
              <a:rPr sz="860" dirty="0">
                <a:solidFill>
                  <a:srgbClr val="FFFFFF"/>
                </a:solidFill>
                <a:latin typeface="Courier New"/>
              </a:rPr>
              <a:t> ORDER BY </a:t>
            </a:r>
            <a:r>
              <a:rPr sz="860" dirty="0" err="1">
                <a:solidFill>
                  <a:srgbClr val="FFFFFF"/>
                </a:solidFill>
                <a:latin typeface="Courier New"/>
              </a:rPr>
              <a:t>Total_Sales</a:t>
            </a:r>
            <a:r>
              <a:rPr sz="860" dirty="0">
                <a:solidFill>
                  <a:srgbClr val="FFFFFF"/>
                </a:solidFill>
                <a:latin typeface="Courier New"/>
              </a:rPr>
              <a:t> DESC LIMIT 5;
25  
26  -- 2nd Highest Selling Product (DENSE_RANK)
27  SELECT 
28  * FROM (
29    SELECT 
30  </a:t>
            </a:r>
            <a:r>
              <a:rPr sz="860" dirty="0" err="1">
                <a:solidFill>
                  <a:srgbClr val="FFFFFF"/>
                </a:solidFill>
                <a:latin typeface="Courier New"/>
              </a:rPr>
              <a:t>EnglishProductName</a:t>
            </a:r>
            <a:r>
              <a:rPr sz="860" dirty="0">
                <a:solidFill>
                  <a:srgbClr val="FFFFFF"/>
                </a:solidFill>
                <a:latin typeface="Courier New"/>
              </a:rPr>
              <a:t>, SUM(sales) AS </a:t>
            </a:r>
            <a:r>
              <a:rPr sz="860" dirty="0" err="1">
                <a:solidFill>
                  <a:srgbClr val="FFFFFF"/>
                </a:solidFill>
                <a:latin typeface="Courier New"/>
              </a:rPr>
              <a:t>Total_sales</a:t>
            </a:r>
            <a:r>
              <a:rPr sz="860" dirty="0">
                <a:solidFill>
                  <a:srgbClr val="FFFFFF"/>
                </a:solidFill>
                <a:latin typeface="Courier New"/>
              </a:rPr>
              <a:t>,
31      DENSE_RANK() OVER(
32  ORDER BY SUM(sales) DESC
33  ) </a:t>
            </a:r>
            <a:r>
              <a:rPr sz="860" dirty="0" err="1">
                <a:solidFill>
                  <a:srgbClr val="FFFFFF"/>
                </a:solidFill>
                <a:latin typeface="Courier New"/>
              </a:rPr>
              <a:t>rnk</a:t>
            </a:r>
            <a:r>
              <a:rPr sz="860" dirty="0">
                <a:solidFill>
                  <a:srgbClr val="FFFFFF"/>
                </a:solidFill>
                <a:latin typeface="Courier New"/>
              </a:rPr>
              <a:t>
34    FROM 
35  </a:t>
            </a:r>
            <a:r>
              <a:rPr sz="860" dirty="0" err="1">
                <a:solidFill>
                  <a:srgbClr val="FFFFFF"/>
                </a:solidFill>
                <a:latin typeface="Courier New"/>
              </a:rPr>
              <a:t>sales_amount</a:t>
            </a:r>
            <a:r>
              <a:rPr sz="860" dirty="0">
                <a:solidFill>
                  <a:srgbClr val="FFFFFF"/>
                </a:solidFill>
                <a:latin typeface="Courier New"/>
              </a:rPr>
              <a:t> GROUP BY </a:t>
            </a:r>
            <a:r>
              <a:rPr sz="860" dirty="0" err="1">
                <a:solidFill>
                  <a:srgbClr val="FFFFFF"/>
                </a:solidFill>
                <a:latin typeface="Courier New"/>
              </a:rPr>
              <a:t>EnglishProductName</a:t>
            </a:r>
            <a:r>
              <a:rPr sz="860" dirty="0">
                <a:solidFill>
                  <a:srgbClr val="FFFFFF"/>
                </a:solidFill>
                <a:latin typeface="Courier New"/>
              </a:rPr>
              <a:t>
36  ) p WHERE </a:t>
            </a:r>
            <a:r>
              <a:rPr sz="860" dirty="0" err="1">
                <a:solidFill>
                  <a:srgbClr val="FFFFFF"/>
                </a:solidFill>
                <a:latin typeface="Courier New"/>
              </a:rPr>
              <a:t>rnk</a:t>
            </a:r>
            <a:r>
              <a:rPr sz="860" dirty="0">
                <a:solidFill>
                  <a:srgbClr val="FFFFFF"/>
                </a:solidFill>
                <a:latin typeface="Courier New"/>
              </a:rPr>
              <a:t>=2;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F5636C4-66DC-1781-D049-7C3F133196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47748"/>
              </p:ext>
            </p:extLst>
          </p:nvPr>
        </p:nvGraphicFramePr>
        <p:xfrm>
          <a:off x="4754880" y="1031510"/>
          <a:ext cx="4114800" cy="1476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126">
                <a:tc>
                  <a:txBody>
                    <a:bodyPr/>
                    <a:lstStyle/>
                    <a:p>
                      <a:pPr algn="l"/>
                      <a:r>
                        <a:rPr sz="850" b="1" dirty="0">
                          <a:solidFill>
                            <a:srgbClr val="1E293B"/>
                          </a:solidFill>
                          <a:latin typeface="Aptos"/>
                        </a:rPr>
                        <a:t>Customer Name</a:t>
                      </a:r>
                    </a:p>
                  </a:txBody>
                  <a:tcPr anchor="ctr">
                    <a:solidFill>
                      <a:srgbClr val="E3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293B"/>
                          </a:solidFill>
                          <a:latin typeface="Aptos"/>
                        </a:rPr>
                        <a:t>Total Sales</a:t>
                      </a:r>
                    </a:p>
                  </a:txBody>
                  <a:tcPr anchor="ctr">
                    <a:solidFill>
                      <a:srgbClr val="E3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126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Nichole N Nara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$13,295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126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Kaitlyn C Henderson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$13,269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126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Margaret M He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$13,248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126">
                <a:tc>
                  <a:txBody>
                    <a:bodyPr/>
                    <a:lstStyle/>
                    <a:p>
                      <a:pPr algn="l"/>
                      <a:r>
                        <a:rPr sz="819" b="0" dirty="0">
                          <a:solidFill>
                            <a:srgbClr val="1E293B"/>
                          </a:solidFill>
                          <a:latin typeface="Aptos"/>
                        </a:rPr>
                        <a:t>Janet G Munoz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$13,195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126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Randall S Dominguez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 dirty="0">
                          <a:solidFill>
                            <a:srgbClr val="1E293B"/>
                          </a:solidFill>
                          <a:latin typeface="Aptos"/>
                        </a:rPr>
                        <a:t>$13,168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C492B05-EA56-CD0E-D9B2-B04596A15D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361705"/>
              </p:ext>
            </p:extLst>
          </p:nvPr>
        </p:nvGraphicFramePr>
        <p:xfrm>
          <a:off x="4800600" y="3049939"/>
          <a:ext cx="4114799" cy="1476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6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8378">
                <a:tc>
                  <a:txBody>
                    <a:bodyPr/>
                    <a:lstStyle/>
                    <a:p>
                      <a:pPr algn="l"/>
                      <a:r>
                        <a:rPr sz="850" b="1" dirty="0">
                          <a:solidFill>
                            <a:srgbClr val="1E293B"/>
                          </a:solidFill>
                          <a:latin typeface="Aptos"/>
                        </a:rPr>
                        <a:t>Product Name</a:t>
                      </a:r>
                    </a:p>
                  </a:txBody>
                  <a:tcPr anchor="ctr">
                    <a:solidFill>
                      <a:srgbClr val="E3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293B"/>
                          </a:solidFill>
                          <a:latin typeface="Aptos"/>
                        </a:rPr>
                        <a:t>Total Sales</a:t>
                      </a:r>
                    </a:p>
                  </a:txBody>
                  <a:tcPr anchor="ctr">
                    <a:solidFill>
                      <a:srgbClr val="E3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293B"/>
                          </a:solidFill>
                          <a:latin typeface="Aptos"/>
                        </a:rPr>
                        <a:t>Rank</a:t>
                      </a:r>
                    </a:p>
                  </a:txBody>
                  <a:tcPr anchor="ctr">
                    <a:solidFill>
                      <a:srgbClr val="E3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378">
                <a:tc>
                  <a:txBody>
                    <a:bodyPr/>
                    <a:lstStyle/>
                    <a:p>
                      <a:pPr algn="l"/>
                      <a:r>
                        <a:rPr sz="819" b="0" dirty="0">
                          <a:solidFill>
                            <a:srgbClr val="1E293B"/>
                          </a:solidFill>
                          <a:latin typeface="Aptos"/>
                        </a:rPr>
                        <a:t>Mountain-200 Black, 42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Aptos"/>
                        </a:rPr>
                        <a:t>$4,121,780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dirty="0">
                          <a:solidFill>
                            <a:srgbClr val="1E293B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55032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502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64008" cy="1234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9326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Concentration Risk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1225296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Bikes alone = 49.4% of total revenue. A supply disruption or competitor move in this segment would critically impact the business.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841248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841248"/>
            <a:ext cx="64008" cy="1234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73752" y="9326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Skew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73752" y="1225296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+ Australia generate 63% of global revenue. Europe's 30% share across 3 countries signals high but untapped multi-market potential.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231136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231136"/>
            <a:ext cx="64008" cy="1234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" y="232257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Disparity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" y="2615184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 carry 41.5% margin vs. Clothing at 35.7%. Raising Accessories pricing 10% could add ~$70K profit annually.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231136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231136"/>
            <a:ext cx="64008" cy="1234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73752" y="232257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Signal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73752" y="2615184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(Oct–Dec) consistently outperforms Q1 (Jan–Mar). December 2013 revenue was 118% higher than February — seasonal planning is critical.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621024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621024"/>
            <a:ext cx="64008" cy="1234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" y="37124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Gap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" y="4005072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+ Clothing = only 3.6% of revenue despite being natural Bike complements — a clear commercial development opportunity.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621024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3621024"/>
            <a:ext cx="64008" cy="1234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73752" y="37124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Inflection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73752" y="4005072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+131% YoY from 2012→2013 signals successful market expansion. Sustaining it requires product and geographic diversification strategy.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502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685800" cy="7498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41248"/>
            <a:ext cx="685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8992" y="9144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Strategy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992" y="1207008"/>
            <a:ext cx="7635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Road Bike premium SKU range while incentivising Accessories cross-sell via bundling. Target: lift Accessories from 2.4% to 5% revenue share within 18 months.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682496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682496"/>
            <a:ext cx="685800" cy="7498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682496"/>
            <a:ext cx="685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1755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Expansion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8992" y="2048256"/>
            <a:ext cx="7635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European market investment — UK, Germany, France already show solid traction. Targeted campaigns in Canada could recover 3–4% additional revenue share.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523744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523744"/>
            <a:ext cx="685800" cy="7498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523744"/>
            <a:ext cx="685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78992" y="25968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" y="2889504"/>
            <a:ext cx="7635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Accessories pricing: a 10–12% increase on high-demand items (Helmets, Jerseys) is supportable given Bikes' margin floor of 41.5%.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364992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364992"/>
            <a:ext cx="685800" cy="7498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3364992"/>
            <a:ext cx="685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8992" y="34381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Supply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8992" y="3730752"/>
            <a:ext cx="7635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Q4 stock levels to seasonal demand peaks. Use Power BI 90-day rolling inventory alerts for top Road Bike models to prevent stockouts.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20624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4206240"/>
            <a:ext cx="685800" cy="7498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4206240"/>
            <a:ext cx="685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78992" y="42793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Tool Deployment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78992" y="4572000"/>
            <a:ext cx="7635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Power BI as the enterprise standard. Retain Tableau for executive visual storytelling. Sunset manual Excel reporting beyond model-level analytics.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Challenges &amp; Limitations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502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4160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Encountered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7947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OrderDateKey stored as integer (YYYYMMDD) — required different date-parsing syntax across all three tools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orphan ProductSubcategoryKeys in the Sales fact — needed LEFT JOIN logic to prevent row loss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vs. calendar year offsets in DimDate conflicted with GroupBy aggregations — required explicit mapping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relationship directions needed careful single-direction configuration to avoid circular dependencies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Public row limit required pre-aggregation before upload to Public server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841248"/>
            <a:ext cx="4160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9326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Limitations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280160"/>
            <a:ext cx="37947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covers FY2011–2013 only — no post-2014 data to validate long-term trend sustainability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returns or refunds data — profit figures may be slightly overstated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promotional spend captured — unable to compute true Return on Ad Spend (ROAS)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 (Income, Education) sparsely populated for ~30% of records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static — no real-time refresh capability limits operational BI use in Excel version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Analytical Skills Demonstrated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502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278892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8778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84048" y="1252728"/>
            <a:ext cx="2606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modelling (star schema)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across 7 source tables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Integer-to-date key parsing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validation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27832" y="841248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27832" y="841248"/>
            <a:ext cx="278892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8778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37560" y="1252728"/>
            <a:ext cx="2606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&amp; variance analysis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% &amp; ranking logic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decomposition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and cost-ratio computation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81344" y="841248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81344" y="841248"/>
            <a:ext cx="278892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91072" y="8778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Mastery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91072" y="1252728"/>
            <a:ext cx="2606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PivotTables &amp; Charts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slicer-driven dashboards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ranges &amp; structured references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944368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944368"/>
            <a:ext cx="278892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29809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Skills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84048" y="3355848"/>
            <a:ext cx="2606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dashboard design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fields &amp; LOD expressions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 dashboard actions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treemap &amp; bubble charts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27832" y="2944368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27832" y="2944368"/>
            <a:ext cx="278892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37560" y="29809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/ DAX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37560" y="3355848"/>
            <a:ext cx="2606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transformation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DAX: YTD, YoY, %, DIVIDE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 &amp; bookmarks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report with RLS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81344" y="2944368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81344" y="2944368"/>
            <a:ext cx="278892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91072" y="29809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Acumen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91072" y="3355848"/>
            <a:ext cx="2606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framework design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Insight-to-recommendation flow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storytelling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Cross-tool strategic evaluation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Portfolio Relevance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502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53949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539496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This Project Delivers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Decision-ready dashboards replace manual Excel builds — saving 6–10 hours per reporting cycle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$70K+ annual profit improvement opportunity through Accessories pricing optimisation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Revealed 63% geographic concentration risk, enabling proactive diversification planning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Cross-tool evaluation gives stakeholders a structured BI investment decision framework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analytics achievable without IT dependency when data model is cleanly designed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Power BI model — new fiscal years can be ingested with zero structural changes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806440" y="841248"/>
            <a:ext cx="3017520" cy="4023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43600" y="960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1664208"/>
            <a:ext cx="2697480" cy="384048"/>
          </a:xfrm>
          <a:prstGeom prst="rect">
            <a:avLst/>
          </a:prstGeom>
          <a:solidFill>
            <a:srgbClr val="0D2B5C"/>
          </a:solidFill>
          <a:ln w="6350">
            <a:solidFill>
              <a:srgbClr val="14A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35040" y="17099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End-to-end ownership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2139696"/>
            <a:ext cx="2697480" cy="384048"/>
          </a:xfrm>
          <a:prstGeom prst="rect">
            <a:avLst/>
          </a:prstGeom>
          <a:solidFill>
            <a:srgbClr val="0D2B5C"/>
          </a:solidFill>
          <a:ln w="6350">
            <a:solidFill>
              <a:srgbClr val="14A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0" y="21854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Multi-tool proficiency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2615184"/>
            <a:ext cx="2697480" cy="384048"/>
          </a:xfrm>
          <a:prstGeom prst="rect">
            <a:avLst/>
          </a:prstGeom>
          <a:solidFill>
            <a:srgbClr val="0D2B5C"/>
          </a:solidFill>
          <a:ln w="6350">
            <a:solidFill>
              <a:srgbClr val="14A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0" y="26609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 dataset, real scale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3090672"/>
            <a:ext cx="2697480" cy="384048"/>
          </a:xfrm>
          <a:prstGeom prst="rect">
            <a:avLst/>
          </a:prstGeom>
          <a:solidFill>
            <a:srgbClr val="0D2B5C"/>
          </a:solidFill>
          <a:ln w="6350">
            <a:solidFill>
              <a:srgbClr val="14A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35040" y="31363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Business-first thinking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3566160"/>
            <a:ext cx="2697480" cy="384048"/>
          </a:xfrm>
          <a:prstGeom prst="rect">
            <a:avLst/>
          </a:prstGeom>
          <a:solidFill>
            <a:srgbClr val="0D2B5C"/>
          </a:solidFill>
          <a:ln w="6350">
            <a:solidFill>
              <a:srgbClr val="14A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35040" y="36118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Executive communication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4041648"/>
            <a:ext cx="2697480" cy="384048"/>
          </a:xfrm>
          <a:prstGeom prst="rect">
            <a:avLst/>
          </a:prstGeom>
          <a:solidFill>
            <a:srgbClr val="0D2B5C"/>
          </a:solidFill>
          <a:ln w="6350">
            <a:solidFill>
              <a:srgbClr val="14A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35040" y="40873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Insight → Action → Impact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Discussion &amp; Interview Preparation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19" y="1417320"/>
            <a:ext cx="8557953" cy="2834640"/>
          </a:xfrm>
          <a:prstGeom prst="rect">
            <a:avLst/>
          </a:prstGeom>
          <a:solidFill>
            <a:srgbClr val="0D2B5C"/>
          </a:solidFill>
          <a:ln w="6350">
            <a:solidFill>
              <a:srgbClr val="14A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2711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for Discussion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8271164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$29.4M revenue · 41.1% margin · 60K transactions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 96.4% revenue — diversification is priority #1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+ Australia = 63% — Europe is the growth lever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+131% YoY — H2 drove the momentum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wins on enterprise scale; Tableau on UX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reproducible, extendable, and portfolio-ready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46227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 tells a story. The analyst's job is to tell it clearly, honestly, and fast."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3963</Words>
  <Application>Microsoft Office PowerPoint</Application>
  <PresentationFormat>On-screen Show (16:9)</PresentationFormat>
  <Paragraphs>664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Adventure Works Sales &amp; Performance Analysis</dc:title>
  <dc:subject>PptxGenJS Presentation</dc:subject>
  <dc:creator>PptxGenJS</dc:creator>
  <cp:lastModifiedBy>Gopal Kumar</cp:lastModifiedBy>
  <cp:revision>43</cp:revision>
  <dcterms:created xsi:type="dcterms:W3CDTF">2026-04-04T08:15:59Z</dcterms:created>
  <dcterms:modified xsi:type="dcterms:W3CDTF">2026-04-07T09:05:39Z</dcterms:modified>
</cp:coreProperties>
</file>